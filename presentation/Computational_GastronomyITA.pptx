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19"/>
  </p:notesMasterIdLst>
  <p:sldIdLst>
    <p:sldId id="256" r:id="rId2"/>
    <p:sldId id="257" r:id="rId3"/>
    <p:sldId id="265" r:id="rId4"/>
    <p:sldId id="282" r:id="rId5"/>
    <p:sldId id="317" r:id="rId6"/>
    <p:sldId id="313" r:id="rId7"/>
    <p:sldId id="314" r:id="rId8"/>
    <p:sldId id="320" r:id="rId9"/>
    <p:sldId id="315" r:id="rId10"/>
    <p:sldId id="316" r:id="rId11"/>
    <p:sldId id="312" r:id="rId12"/>
    <p:sldId id="318" r:id="rId13"/>
    <p:sldId id="262" r:id="rId14"/>
    <p:sldId id="264" r:id="rId15"/>
    <p:sldId id="319" r:id="rId16"/>
    <p:sldId id="259" r:id="rId17"/>
    <p:sldId id="290" r:id="rId18"/>
  </p:sldIdLst>
  <p:sldSz cx="9144000" cy="5143500" type="screen16x9"/>
  <p:notesSz cx="6858000" cy="9144000"/>
  <p:embeddedFontLst>
    <p:embeddedFont>
      <p:font typeface="Averia Serif Libre" panose="02000603000000000004" pitchFamily="2" charset="0"/>
      <p:regular r:id="rId20"/>
      <p:bold r:id="rId21"/>
      <p:italic r:id="rId22"/>
      <p:boldItalic r:id="rId23"/>
    </p:embeddedFont>
    <p:embeddedFont>
      <p:font typeface="Baloo 2" pitchFamily="2" charset="77"/>
      <p:regular r:id="rId24"/>
      <p:bold r:id="rId25"/>
    </p:embeddedFont>
    <p:embeddedFont>
      <p:font typeface="Cambria Math" panose="02040503050406030204" pitchFamily="18" charset="0"/>
      <p:regular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8221910-3460-4C41-B467-1425E1BB9917}" v="17" dt="2026-02-10T21:57:09.234"/>
    <p1510:client id="{94054B00-ED31-4EE1-9439-C0D1D7F2751F}" v="65" dt="2026-02-10T21:55:42.639"/>
  </p1510:revLst>
</p1510:revInfo>
</file>

<file path=ppt/tableStyles.xml><?xml version="1.0" encoding="utf-8"?>
<a:tblStyleLst xmlns:a="http://schemas.openxmlformats.org/drawingml/2006/main" def="{ADAE659C-C952-46C8-91E4-36EE228BC025}">
  <a:tblStyle styleId="{ADAE659C-C952-46C8-91E4-36EE228BC0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62" autoAdjust="0"/>
    <p:restoredTop sz="94730"/>
  </p:normalViewPr>
  <p:slideViewPr>
    <p:cSldViewPr snapToGrid="0">
      <p:cViewPr varScale="1">
        <p:scale>
          <a:sx n="171" d="100"/>
          <a:sy n="171" d="100"/>
        </p:scale>
        <p:origin x="-376" y="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23d9f8ba33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23d9f8ba33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3" name="Google Shape;493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3cfbbb9260_0_4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3cfbbb9260_0_4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>
          <a:extLst>
            <a:ext uri="{FF2B5EF4-FFF2-40B4-BE49-F238E27FC236}">
              <a16:creationId xmlns:a16="http://schemas.microsoft.com/office/drawing/2014/main" id="{D4C443D1-C010-4A74-01C8-833D1C2DB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3cfbbb9260_0_473:notes">
            <a:extLst>
              <a:ext uri="{FF2B5EF4-FFF2-40B4-BE49-F238E27FC236}">
                <a16:creationId xmlns:a16="http://schemas.microsoft.com/office/drawing/2014/main" id="{396ADD36-5EEE-8A59-3B97-7C4590705E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3cfbbb9260_0_473:notes">
            <a:extLst>
              <a:ext uri="{FF2B5EF4-FFF2-40B4-BE49-F238E27FC236}">
                <a16:creationId xmlns:a16="http://schemas.microsoft.com/office/drawing/2014/main" id="{430A0553-9D80-55C8-7E65-DBC535B560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89576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>
          <a:extLst>
            <a:ext uri="{FF2B5EF4-FFF2-40B4-BE49-F238E27FC236}">
              <a16:creationId xmlns:a16="http://schemas.microsoft.com/office/drawing/2014/main" id="{49CE6622-AE28-0BB6-541A-7F0492AD6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3cfbbb9260_0_473:notes">
            <a:extLst>
              <a:ext uri="{FF2B5EF4-FFF2-40B4-BE49-F238E27FC236}">
                <a16:creationId xmlns:a16="http://schemas.microsoft.com/office/drawing/2014/main" id="{5502F784-CA93-E24B-0AE4-8F163E6566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3cfbbb9260_0_473:notes">
            <a:extLst>
              <a:ext uri="{FF2B5EF4-FFF2-40B4-BE49-F238E27FC236}">
                <a16:creationId xmlns:a16="http://schemas.microsoft.com/office/drawing/2014/main" id="{8469263F-FC9C-8BA2-C352-3541FA0299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45044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>
          <a:extLst>
            <a:ext uri="{FF2B5EF4-FFF2-40B4-BE49-F238E27FC236}">
              <a16:creationId xmlns:a16="http://schemas.microsoft.com/office/drawing/2014/main" id="{409CD3CE-C6BD-C1D1-CE6F-EE5E2DAB7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3cfbbb9260_0_473:notes">
            <a:extLst>
              <a:ext uri="{FF2B5EF4-FFF2-40B4-BE49-F238E27FC236}">
                <a16:creationId xmlns:a16="http://schemas.microsoft.com/office/drawing/2014/main" id="{264AE770-BFAC-AF29-0CBE-1CB2C6B5A6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3cfbbb9260_0_473:notes">
            <a:extLst>
              <a:ext uri="{FF2B5EF4-FFF2-40B4-BE49-F238E27FC236}">
                <a16:creationId xmlns:a16="http://schemas.microsoft.com/office/drawing/2014/main" id="{8D2CDE0C-BEE3-44D3-F351-C17C57BA83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60670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>
          <a:extLst>
            <a:ext uri="{FF2B5EF4-FFF2-40B4-BE49-F238E27FC236}">
              <a16:creationId xmlns:a16="http://schemas.microsoft.com/office/drawing/2014/main" id="{550AFFE3-EAFA-1E4A-330A-9C53615D9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14072739ea5_12_0:notes">
            <a:extLst>
              <a:ext uri="{FF2B5EF4-FFF2-40B4-BE49-F238E27FC236}">
                <a16:creationId xmlns:a16="http://schemas.microsoft.com/office/drawing/2014/main" id="{B9455AE7-77A2-AB93-2072-B6973CCFAE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14072739ea5_12_0:notes">
            <a:extLst>
              <a:ext uri="{FF2B5EF4-FFF2-40B4-BE49-F238E27FC236}">
                <a16:creationId xmlns:a16="http://schemas.microsoft.com/office/drawing/2014/main" id="{7B171317-FB14-F4CA-D626-B221CC1048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247783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>
          <a:extLst>
            <a:ext uri="{FF2B5EF4-FFF2-40B4-BE49-F238E27FC236}">
              <a16:creationId xmlns:a16="http://schemas.microsoft.com/office/drawing/2014/main" id="{A17ECC01-F075-0255-9453-E59D0764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14072739ea5_12_0:notes">
            <a:extLst>
              <a:ext uri="{FF2B5EF4-FFF2-40B4-BE49-F238E27FC236}">
                <a16:creationId xmlns:a16="http://schemas.microsoft.com/office/drawing/2014/main" id="{B783CDEA-80CB-2A4B-1BC4-E24D4965B0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14072739ea5_12_0:notes">
            <a:extLst>
              <a:ext uri="{FF2B5EF4-FFF2-40B4-BE49-F238E27FC236}">
                <a16:creationId xmlns:a16="http://schemas.microsoft.com/office/drawing/2014/main" id="{D1E81338-3213-2A3A-75C1-621E5AF693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43763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>
          <a:extLst>
            <a:ext uri="{FF2B5EF4-FFF2-40B4-BE49-F238E27FC236}">
              <a16:creationId xmlns:a16="http://schemas.microsoft.com/office/drawing/2014/main" id="{DF6E417F-634C-64FC-BCD8-4C6F3514D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14072739ea5_12_0:notes">
            <a:extLst>
              <a:ext uri="{FF2B5EF4-FFF2-40B4-BE49-F238E27FC236}">
                <a16:creationId xmlns:a16="http://schemas.microsoft.com/office/drawing/2014/main" id="{3EBD9206-7718-1BE1-1F4E-9275DAF844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14072739ea5_12_0:notes">
            <a:extLst>
              <a:ext uri="{FF2B5EF4-FFF2-40B4-BE49-F238E27FC236}">
                <a16:creationId xmlns:a16="http://schemas.microsoft.com/office/drawing/2014/main" id="{0DD43CE4-C96F-EDD9-88A4-2F9DC4F06D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54165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>
          <a:extLst>
            <a:ext uri="{FF2B5EF4-FFF2-40B4-BE49-F238E27FC236}">
              <a16:creationId xmlns:a16="http://schemas.microsoft.com/office/drawing/2014/main" id="{46BFCC64-4935-3FEB-5779-5F9385254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3cfbbb9260_0_473:notes">
            <a:extLst>
              <a:ext uri="{FF2B5EF4-FFF2-40B4-BE49-F238E27FC236}">
                <a16:creationId xmlns:a16="http://schemas.microsoft.com/office/drawing/2014/main" id="{FDE129B4-C170-ECFF-E93F-45A3DAA5D5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3cfbbb9260_0_473:notes">
            <a:extLst>
              <a:ext uri="{FF2B5EF4-FFF2-40B4-BE49-F238E27FC236}">
                <a16:creationId xmlns:a16="http://schemas.microsoft.com/office/drawing/2014/main" id="{8F64F9F8-E8C9-0B4A-04EC-1AF7C80351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96470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>
          <a:extLst>
            <a:ext uri="{FF2B5EF4-FFF2-40B4-BE49-F238E27FC236}">
              <a16:creationId xmlns:a16="http://schemas.microsoft.com/office/drawing/2014/main" id="{02A84312-848C-5D65-9925-F542B2BCA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g23cfbbb9260_0_473:notes">
            <a:extLst>
              <a:ext uri="{FF2B5EF4-FFF2-40B4-BE49-F238E27FC236}">
                <a16:creationId xmlns:a16="http://schemas.microsoft.com/office/drawing/2014/main" id="{759061BA-D453-AD21-C885-4C07A473DF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7" name="Google Shape;937;g23cfbbb9260_0_473:notes">
            <a:extLst>
              <a:ext uri="{FF2B5EF4-FFF2-40B4-BE49-F238E27FC236}">
                <a16:creationId xmlns:a16="http://schemas.microsoft.com/office/drawing/2014/main" id="{893ECE9E-B155-D1CC-7899-2CE655B2B8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927273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23cfbbb9260_0_4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9" name="Google Shape;449;g23cfbbb9260_0_4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" name="Google Shape;467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>
          <a:extLst>
            <a:ext uri="{FF2B5EF4-FFF2-40B4-BE49-F238E27FC236}">
              <a16:creationId xmlns:a16="http://schemas.microsoft.com/office/drawing/2014/main" id="{A5112F00-3BC1-207C-408D-6FAE21093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54dda1946d_6_332:notes">
            <a:extLst>
              <a:ext uri="{FF2B5EF4-FFF2-40B4-BE49-F238E27FC236}">
                <a16:creationId xmlns:a16="http://schemas.microsoft.com/office/drawing/2014/main" id="{5A1D1F12-C677-3200-D964-4244838005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" name="Google Shape;467;g54dda1946d_6_332:notes">
            <a:extLst>
              <a:ext uri="{FF2B5EF4-FFF2-40B4-BE49-F238E27FC236}">
                <a16:creationId xmlns:a16="http://schemas.microsoft.com/office/drawing/2014/main" id="{B0D86461-564D-CBC8-EDC4-E284266AD5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58316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23d9f8ba33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" name="Google Shape;418;g23d9f8ba33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5" name="Google Shape;1075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://bit.ly/2TyoMsr" TargetMode="External"/><Relationship Id="rId7" Type="http://schemas.openxmlformats.org/officeDocument/2006/relationships/image" Target="../media/image4.png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.png"/><Relationship Id="rId5" Type="http://schemas.openxmlformats.org/officeDocument/2006/relationships/image" Target="../media/image12.png"/><Relationship Id="rId4" Type="http://schemas.openxmlformats.org/officeDocument/2006/relationships/hyperlink" Target="http://bit.ly/2TtBDfr" TargetMode="Externa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234164" y="1623893"/>
            <a:ext cx="4675800" cy="250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234164" y="4128790"/>
            <a:ext cx="4675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-2766597" y="-1212865"/>
            <a:ext cx="5104500" cy="7569227"/>
          </a:xfrm>
          <a:custGeom>
            <a:avLst/>
            <a:gdLst/>
            <a:ahLst/>
            <a:cxnLst/>
            <a:rect l="l" t="t" r="r" b="b"/>
            <a:pathLst>
              <a:path w="131019" h="194282" extrusionOk="0">
                <a:moveTo>
                  <a:pt x="55074" y="0"/>
                </a:moveTo>
                <a:cubicBezTo>
                  <a:pt x="27771" y="0"/>
                  <a:pt x="0" y="23822"/>
                  <a:pt x="3784" y="58539"/>
                </a:cubicBezTo>
                <a:cubicBezTo>
                  <a:pt x="5481" y="75201"/>
                  <a:pt x="14150" y="90215"/>
                  <a:pt x="16260" y="106812"/>
                </a:cubicBezTo>
                <a:cubicBezTo>
                  <a:pt x="18666" y="124380"/>
                  <a:pt x="9799" y="141043"/>
                  <a:pt x="10739" y="158562"/>
                </a:cubicBezTo>
                <a:cubicBezTo>
                  <a:pt x="10871" y="175191"/>
                  <a:pt x="23314" y="186118"/>
                  <a:pt x="38444" y="190420"/>
                </a:cubicBezTo>
                <a:cubicBezTo>
                  <a:pt x="46126" y="192918"/>
                  <a:pt x="54268" y="194282"/>
                  <a:pt x="62382" y="194282"/>
                </a:cubicBezTo>
                <a:cubicBezTo>
                  <a:pt x="71188" y="194282"/>
                  <a:pt x="79962" y="192675"/>
                  <a:pt x="88085" y="189167"/>
                </a:cubicBezTo>
                <a:cubicBezTo>
                  <a:pt x="115493" y="178603"/>
                  <a:pt x="131018" y="142889"/>
                  <a:pt x="113334" y="117623"/>
                </a:cubicBezTo>
                <a:cubicBezTo>
                  <a:pt x="107796" y="109350"/>
                  <a:pt x="98122" y="104488"/>
                  <a:pt x="93853" y="95308"/>
                </a:cubicBezTo>
                <a:cubicBezTo>
                  <a:pt x="84937" y="73322"/>
                  <a:pt x="110252" y="50891"/>
                  <a:pt x="97133" y="29268"/>
                </a:cubicBezTo>
                <a:cubicBezTo>
                  <a:pt x="88071" y="8790"/>
                  <a:pt x="71659" y="0"/>
                  <a:pt x="5507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6824323" y="-263272"/>
            <a:ext cx="5062423" cy="6177965"/>
          </a:xfrm>
          <a:custGeom>
            <a:avLst/>
            <a:gdLst/>
            <a:ahLst/>
            <a:cxnLst/>
            <a:rect l="l" t="t" r="r" b="b"/>
            <a:pathLst>
              <a:path w="129939" h="158572" extrusionOk="0">
                <a:moveTo>
                  <a:pt x="92723" y="0"/>
                </a:moveTo>
                <a:cubicBezTo>
                  <a:pt x="82524" y="0"/>
                  <a:pt x="72194" y="2810"/>
                  <a:pt x="66469" y="7591"/>
                </a:cubicBezTo>
                <a:cubicBezTo>
                  <a:pt x="49345" y="24088"/>
                  <a:pt x="65909" y="51068"/>
                  <a:pt x="52905" y="69345"/>
                </a:cubicBezTo>
                <a:cubicBezTo>
                  <a:pt x="36309" y="90078"/>
                  <a:pt x="1" y="91858"/>
                  <a:pt x="10565" y="128199"/>
                </a:cubicBezTo>
                <a:cubicBezTo>
                  <a:pt x="18668" y="149286"/>
                  <a:pt x="42257" y="158571"/>
                  <a:pt x="65582" y="158571"/>
                </a:cubicBezTo>
                <a:cubicBezTo>
                  <a:pt x="79830" y="158571"/>
                  <a:pt x="93980" y="155107"/>
                  <a:pt x="104442" y="148751"/>
                </a:cubicBezTo>
                <a:cubicBezTo>
                  <a:pt x="128801" y="130902"/>
                  <a:pt x="125966" y="96193"/>
                  <a:pt x="129147" y="69213"/>
                </a:cubicBezTo>
                <a:cubicBezTo>
                  <a:pt x="129938" y="48744"/>
                  <a:pt x="129180" y="19984"/>
                  <a:pt x="116852" y="7788"/>
                </a:cubicBezTo>
                <a:cubicBezTo>
                  <a:pt x="111379" y="2379"/>
                  <a:pt x="102106" y="0"/>
                  <a:pt x="927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3" name="Google Shape;13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-1136944">
            <a:off x="7701923" y="3829984"/>
            <a:ext cx="1539502" cy="19118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60092" y="3530642"/>
            <a:ext cx="1433000" cy="2260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2268241">
            <a:off x="331244" y="2116970"/>
            <a:ext cx="297661" cy="3770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9465" y="2594506"/>
            <a:ext cx="557000" cy="13476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193180" y="-671007"/>
            <a:ext cx="557000" cy="25868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>
            <a:spLocks noGrp="1"/>
          </p:cNvSpPr>
          <p:nvPr>
            <p:ph type="title"/>
          </p:nvPr>
        </p:nvSpPr>
        <p:spPr>
          <a:xfrm>
            <a:off x="1421175" y="445025"/>
            <a:ext cx="6301800" cy="124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ubTitle" idx="1"/>
          </p:nvPr>
        </p:nvSpPr>
        <p:spPr>
          <a:xfrm>
            <a:off x="4923137" y="3167133"/>
            <a:ext cx="2505600" cy="101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2"/>
          </p:nvPr>
        </p:nvSpPr>
        <p:spPr>
          <a:xfrm>
            <a:off x="1715263" y="3167133"/>
            <a:ext cx="2505600" cy="101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subTitle" idx="3"/>
          </p:nvPr>
        </p:nvSpPr>
        <p:spPr>
          <a:xfrm>
            <a:off x="1715263" y="2686515"/>
            <a:ext cx="25056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solidFill>
                  <a:schemeClr val="accent3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ubTitle" idx="4"/>
          </p:nvPr>
        </p:nvSpPr>
        <p:spPr>
          <a:xfrm>
            <a:off x="4923137" y="2686515"/>
            <a:ext cx="25056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solidFill>
                  <a:schemeClr val="accent3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40" name="Google Shape;40;p5"/>
          <p:cNvSpPr/>
          <p:nvPr/>
        </p:nvSpPr>
        <p:spPr>
          <a:xfrm flipH="1">
            <a:off x="-1964087" y="2172991"/>
            <a:ext cx="6764116" cy="4495212"/>
          </a:xfrm>
          <a:custGeom>
            <a:avLst/>
            <a:gdLst/>
            <a:ahLst/>
            <a:cxnLst/>
            <a:rect l="l" t="t" r="r" b="b"/>
            <a:pathLst>
              <a:path w="176909" h="117568" extrusionOk="0">
                <a:moveTo>
                  <a:pt x="149056" y="0"/>
                </a:moveTo>
                <a:cubicBezTo>
                  <a:pt x="129872" y="1286"/>
                  <a:pt x="120692" y="21475"/>
                  <a:pt x="113143" y="36605"/>
                </a:cubicBezTo>
                <a:cubicBezTo>
                  <a:pt x="108974" y="52575"/>
                  <a:pt x="93745" y="63238"/>
                  <a:pt x="77824" y="65545"/>
                </a:cubicBezTo>
                <a:cubicBezTo>
                  <a:pt x="75544" y="65861"/>
                  <a:pt x="73268" y="65992"/>
                  <a:pt x="70994" y="65992"/>
                </a:cubicBezTo>
                <a:cubicBezTo>
                  <a:pt x="59891" y="65992"/>
                  <a:pt x="48851" y="62867"/>
                  <a:pt x="37738" y="62867"/>
                </a:cubicBezTo>
                <a:cubicBezTo>
                  <a:pt x="35567" y="62867"/>
                  <a:pt x="33393" y="62986"/>
                  <a:pt x="31216" y="63271"/>
                </a:cubicBezTo>
                <a:cubicBezTo>
                  <a:pt x="14075" y="64804"/>
                  <a:pt x="0" y="81433"/>
                  <a:pt x="10697" y="97651"/>
                </a:cubicBezTo>
                <a:cubicBezTo>
                  <a:pt x="21574" y="114230"/>
                  <a:pt x="43593" y="114197"/>
                  <a:pt x="61294" y="116307"/>
                </a:cubicBezTo>
                <a:cubicBezTo>
                  <a:pt x="67565" y="117131"/>
                  <a:pt x="74085" y="117568"/>
                  <a:pt x="80685" y="117568"/>
                </a:cubicBezTo>
                <a:cubicBezTo>
                  <a:pt x="120172" y="117568"/>
                  <a:pt x="162555" y="101925"/>
                  <a:pt x="172031" y="59859"/>
                </a:cubicBezTo>
                <a:cubicBezTo>
                  <a:pt x="176909" y="40445"/>
                  <a:pt x="173843" y="3214"/>
                  <a:pt x="1490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1" name="Google Shape;4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465" y="3534606"/>
            <a:ext cx="557000" cy="1347687"/>
          </a:xfrm>
          <a:prstGeom prst="rect">
            <a:avLst/>
          </a:prstGeom>
          <a:noFill/>
          <a:ln>
            <a:noFill/>
          </a:ln>
        </p:spPr>
      </p:pic>
      <p:pic>
        <p:nvPicPr>
          <p:cNvPr id="42" name="Google Shape;42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2700148" flipH="1">
            <a:off x="829731" y="4621120"/>
            <a:ext cx="364095" cy="46118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408125" y="1085777"/>
            <a:ext cx="1114601" cy="2506447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5"/>
          <p:cNvSpPr/>
          <p:nvPr/>
        </p:nvSpPr>
        <p:spPr>
          <a:xfrm rot="-5400000">
            <a:off x="6575933" y="-2667"/>
            <a:ext cx="3577100" cy="2377225"/>
          </a:xfrm>
          <a:custGeom>
            <a:avLst/>
            <a:gdLst/>
            <a:ahLst/>
            <a:cxnLst/>
            <a:rect l="l" t="t" r="r" b="b"/>
            <a:pathLst>
              <a:path w="176909" h="117568" extrusionOk="0">
                <a:moveTo>
                  <a:pt x="149056" y="0"/>
                </a:moveTo>
                <a:cubicBezTo>
                  <a:pt x="129872" y="1286"/>
                  <a:pt x="120692" y="21475"/>
                  <a:pt x="113143" y="36605"/>
                </a:cubicBezTo>
                <a:cubicBezTo>
                  <a:pt x="108974" y="52575"/>
                  <a:pt x="93745" y="63238"/>
                  <a:pt x="77824" y="65545"/>
                </a:cubicBezTo>
                <a:cubicBezTo>
                  <a:pt x="75544" y="65861"/>
                  <a:pt x="73268" y="65992"/>
                  <a:pt x="70994" y="65992"/>
                </a:cubicBezTo>
                <a:cubicBezTo>
                  <a:pt x="59891" y="65992"/>
                  <a:pt x="48851" y="62867"/>
                  <a:pt x="37738" y="62867"/>
                </a:cubicBezTo>
                <a:cubicBezTo>
                  <a:pt x="35567" y="62867"/>
                  <a:pt x="33393" y="62986"/>
                  <a:pt x="31216" y="63271"/>
                </a:cubicBezTo>
                <a:cubicBezTo>
                  <a:pt x="14075" y="64804"/>
                  <a:pt x="0" y="81433"/>
                  <a:pt x="10697" y="97651"/>
                </a:cubicBezTo>
                <a:cubicBezTo>
                  <a:pt x="21574" y="114230"/>
                  <a:pt x="43593" y="114197"/>
                  <a:pt x="61294" y="116307"/>
                </a:cubicBezTo>
                <a:cubicBezTo>
                  <a:pt x="67565" y="117131"/>
                  <a:pt x="74085" y="117568"/>
                  <a:pt x="80685" y="117568"/>
                </a:cubicBezTo>
                <a:cubicBezTo>
                  <a:pt x="120172" y="117568"/>
                  <a:pt x="162555" y="101925"/>
                  <a:pt x="172031" y="59859"/>
                </a:cubicBezTo>
                <a:cubicBezTo>
                  <a:pt x="176909" y="40445"/>
                  <a:pt x="173843" y="3214"/>
                  <a:pt x="1490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5" name="Google Shape;45;p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4562926">
            <a:off x="8024748" y="-286126"/>
            <a:ext cx="812053" cy="1191891"/>
          </a:xfrm>
          <a:prstGeom prst="rect">
            <a:avLst/>
          </a:prstGeom>
          <a:noFill/>
          <a:ln>
            <a:noFill/>
          </a:ln>
        </p:spPr>
      </p:pic>
      <p:pic>
        <p:nvPicPr>
          <p:cNvPr id="46" name="Google Shape;46;p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2268240">
            <a:off x="8322104" y="4299089"/>
            <a:ext cx="481442" cy="60982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878763">
            <a:off x="8537324" y="2043837"/>
            <a:ext cx="408550" cy="1897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6"/>
          <p:cNvSpPr/>
          <p:nvPr/>
        </p:nvSpPr>
        <p:spPr>
          <a:xfrm rot="-5400000">
            <a:off x="-1712742" y="4383908"/>
            <a:ext cx="3577100" cy="2377225"/>
          </a:xfrm>
          <a:custGeom>
            <a:avLst/>
            <a:gdLst/>
            <a:ahLst/>
            <a:cxnLst/>
            <a:rect l="l" t="t" r="r" b="b"/>
            <a:pathLst>
              <a:path w="176909" h="117568" extrusionOk="0">
                <a:moveTo>
                  <a:pt x="149056" y="0"/>
                </a:moveTo>
                <a:cubicBezTo>
                  <a:pt x="129872" y="1286"/>
                  <a:pt x="120692" y="21475"/>
                  <a:pt x="113143" y="36605"/>
                </a:cubicBezTo>
                <a:cubicBezTo>
                  <a:pt x="108974" y="52575"/>
                  <a:pt x="93745" y="63238"/>
                  <a:pt x="77824" y="65545"/>
                </a:cubicBezTo>
                <a:cubicBezTo>
                  <a:pt x="75544" y="65861"/>
                  <a:pt x="73268" y="65992"/>
                  <a:pt x="70994" y="65992"/>
                </a:cubicBezTo>
                <a:cubicBezTo>
                  <a:pt x="59891" y="65992"/>
                  <a:pt x="48851" y="62867"/>
                  <a:pt x="37738" y="62867"/>
                </a:cubicBezTo>
                <a:cubicBezTo>
                  <a:pt x="35567" y="62867"/>
                  <a:pt x="33393" y="62986"/>
                  <a:pt x="31216" y="63271"/>
                </a:cubicBezTo>
                <a:cubicBezTo>
                  <a:pt x="14075" y="64804"/>
                  <a:pt x="0" y="81433"/>
                  <a:pt x="10697" y="97651"/>
                </a:cubicBezTo>
                <a:cubicBezTo>
                  <a:pt x="21574" y="114230"/>
                  <a:pt x="43593" y="114197"/>
                  <a:pt x="61294" y="116307"/>
                </a:cubicBezTo>
                <a:cubicBezTo>
                  <a:pt x="67565" y="117131"/>
                  <a:pt x="74085" y="117568"/>
                  <a:pt x="80685" y="117568"/>
                </a:cubicBezTo>
                <a:cubicBezTo>
                  <a:pt x="120172" y="117568"/>
                  <a:pt x="162555" y="101925"/>
                  <a:pt x="172031" y="59859"/>
                </a:cubicBezTo>
                <a:cubicBezTo>
                  <a:pt x="176909" y="40445"/>
                  <a:pt x="173843" y="3214"/>
                  <a:pt x="1490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pic>
        <p:nvPicPr>
          <p:cNvPr id="51" name="Google Shape;51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2534561">
            <a:off x="-236417" y="3972142"/>
            <a:ext cx="1432999" cy="2260451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6"/>
          <p:cNvSpPr/>
          <p:nvPr/>
        </p:nvSpPr>
        <p:spPr>
          <a:xfrm rot="-5400000">
            <a:off x="6575933" y="-2667"/>
            <a:ext cx="3577100" cy="2377225"/>
          </a:xfrm>
          <a:custGeom>
            <a:avLst/>
            <a:gdLst/>
            <a:ahLst/>
            <a:cxnLst/>
            <a:rect l="l" t="t" r="r" b="b"/>
            <a:pathLst>
              <a:path w="176909" h="117568" extrusionOk="0">
                <a:moveTo>
                  <a:pt x="149056" y="0"/>
                </a:moveTo>
                <a:cubicBezTo>
                  <a:pt x="129872" y="1286"/>
                  <a:pt x="120692" y="21475"/>
                  <a:pt x="113143" y="36605"/>
                </a:cubicBezTo>
                <a:cubicBezTo>
                  <a:pt x="108974" y="52575"/>
                  <a:pt x="93745" y="63238"/>
                  <a:pt x="77824" y="65545"/>
                </a:cubicBezTo>
                <a:cubicBezTo>
                  <a:pt x="75544" y="65861"/>
                  <a:pt x="73268" y="65992"/>
                  <a:pt x="70994" y="65992"/>
                </a:cubicBezTo>
                <a:cubicBezTo>
                  <a:pt x="59891" y="65992"/>
                  <a:pt x="48851" y="62867"/>
                  <a:pt x="37738" y="62867"/>
                </a:cubicBezTo>
                <a:cubicBezTo>
                  <a:pt x="35567" y="62867"/>
                  <a:pt x="33393" y="62986"/>
                  <a:pt x="31216" y="63271"/>
                </a:cubicBezTo>
                <a:cubicBezTo>
                  <a:pt x="14075" y="64804"/>
                  <a:pt x="0" y="81433"/>
                  <a:pt x="10697" y="97651"/>
                </a:cubicBezTo>
                <a:cubicBezTo>
                  <a:pt x="21574" y="114230"/>
                  <a:pt x="43593" y="114197"/>
                  <a:pt x="61294" y="116307"/>
                </a:cubicBezTo>
                <a:cubicBezTo>
                  <a:pt x="67565" y="117131"/>
                  <a:pt x="74085" y="117568"/>
                  <a:pt x="80685" y="117568"/>
                </a:cubicBezTo>
                <a:cubicBezTo>
                  <a:pt x="120172" y="117568"/>
                  <a:pt x="162555" y="101925"/>
                  <a:pt x="172031" y="59859"/>
                </a:cubicBezTo>
                <a:cubicBezTo>
                  <a:pt x="176909" y="40445"/>
                  <a:pt x="173843" y="3214"/>
                  <a:pt x="1490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3" name="Google Shape;53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4562926">
            <a:off x="8024748" y="-286126"/>
            <a:ext cx="812053" cy="1191891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2023080">
            <a:off x="8390050" y="969609"/>
            <a:ext cx="750251" cy="1024631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2268241">
            <a:off x="488194" y="4427912"/>
            <a:ext cx="297661" cy="37703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317342" flipH="1">
            <a:off x="58165" y="3422457"/>
            <a:ext cx="557000" cy="13476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9"/>
          <p:cNvSpPr txBox="1">
            <a:spLocks noGrp="1"/>
          </p:cNvSpPr>
          <p:nvPr>
            <p:ph type="title"/>
          </p:nvPr>
        </p:nvSpPr>
        <p:spPr>
          <a:xfrm>
            <a:off x="2419675" y="1477888"/>
            <a:ext cx="4304700" cy="127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9500">
                <a:solidFill>
                  <a:schemeClr val="accen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9"/>
          <p:cNvSpPr txBox="1">
            <a:spLocks noGrp="1"/>
          </p:cNvSpPr>
          <p:nvPr>
            <p:ph type="subTitle" idx="1"/>
          </p:nvPr>
        </p:nvSpPr>
        <p:spPr>
          <a:xfrm>
            <a:off x="2419675" y="2671888"/>
            <a:ext cx="43047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Baloo 2"/>
                <a:ea typeface="Baloo 2"/>
                <a:cs typeface="Baloo 2"/>
                <a:sym typeface="Baloo 2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9"/>
          <p:cNvSpPr/>
          <p:nvPr/>
        </p:nvSpPr>
        <p:spPr>
          <a:xfrm>
            <a:off x="-1939749" y="-1270171"/>
            <a:ext cx="5305947" cy="3779721"/>
          </a:xfrm>
          <a:custGeom>
            <a:avLst/>
            <a:gdLst/>
            <a:ahLst/>
            <a:cxnLst/>
            <a:rect l="l" t="t" r="r" b="b"/>
            <a:pathLst>
              <a:path w="138772" h="98855" extrusionOk="0">
                <a:moveTo>
                  <a:pt x="105901" y="1"/>
                </a:moveTo>
                <a:cubicBezTo>
                  <a:pt x="91900" y="1"/>
                  <a:pt x="78421" y="9122"/>
                  <a:pt x="66980" y="16930"/>
                </a:cubicBezTo>
                <a:cubicBezTo>
                  <a:pt x="55739" y="25237"/>
                  <a:pt x="41253" y="23605"/>
                  <a:pt x="28793" y="28484"/>
                </a:cubicBezTo>
                <a:cubicBezTo>
                  <a:pt x="3725" y="39279"/>
                  <a:pt x="0" y="79459"/>
                  <a:pt x="21030" y="95743"/>
                </a:cubicBezTo>
                <a:cubicBezTo>
                  <a:pt x="24237" y="98016"/>
                  <a:pt x="29214" y="98855"/>
                  <a:pt x="34544" y="98855"/>
                </a:cubicBezTo>
                <a:cubicBezTo>
                  <a:pt x="41814" y="98855"/>
                  <a:pt x="49742" y="97293"/>
                  <a:pt x="54734" y="95677"/>
                </a:cubicBezTo>
                <a:cubicBezTo>
                  <a:pt x="85290" y="87123"/>
                  <a:pt x="86658" y="51194"/>
                  <a:pt x="114198" y="42278"/>
                </a:cubicBezTo>
                <a:cubicBezTo>
                  <a:pt x="136777" y="38290"/>
                  <a:pt x="138771" y="12266"/>
                  <a:pt x="118879" y="2872"/>
                </a:cubicBezTo>
                <a:cubicBezTo>
                  <a:pt x="114533" y="858"/>
                  <a:pt x="110192" y="1"/>
                  <a:pt x="10590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9"/>
          <p:cNvSpPr/>
          <p:nvPr/>
        </p:nvSpPr>
        <p:spPr>
          <a:xfrm>
            <a:off x="5145079" y="2168516"/>
            <a:ext cx="6764116" cy="4495212"/>
          </a:xfrm>
          <a:custGeom>
            <a:avLst/>
            <a:gdLst/>
            <a:ahLst/>
            <a:cxnLst/>
            <a:rect l="l" t="t" r="r" b="b"/>
            <a:pathLst>
              <a:path w="176909" h="117568" extrusionOk="0">
                <a:moveTo>
                  <a:pt x="149056" y="0"/>
                </a:moveTo>
                <a:cubicBezTo>
                  <a:pt x="129872" y="1286"/>
                  <a:pt x="120692" y="21475"/>
                  <a:pt x="113143" y="36605"/>
                </a:cubicBezTo>
                <a:cubicBezTo>
                  <a:pt x="108974" y="52575"/>
                  <a:pt x="93745" y="63238"/>
                  <a:pt x="77824" y="65545"/>
                </a:cubicBezTo>
                <a:cubicBezTo>
                  <a:pt x="75544" y="65861"/>
                  <a:pt x="73268" y="65992"/>
                  <a:pt x="70994" y="65992"/>
                </a:cubicBezTo>
                <a:cubicBezTo>
                  <a:pt x="59891" y="65992"/>
                  <a:pt x="48851" y="62867"/>
                  <a:pt x="37738" y="62867"/>
                </a:cubicBezTo>
                <a:cubicBezTo>
                  <a:pt x="35567" y="62867"/>
                  <a:pt x="33393" y="62986"/>
                  <a:pt x="31216" y="63271"/>
                </a:cubicBezTo>
                <a:cubicBezTo>
                  <a:pt x="14075" y="64804"/>
                  <a:pt x="0" y="81433"/>
                  <a:pt x="10697" y="97651"/>
                </a:cubicBezTo>
                <a:cubicBezTo>
                  <a:pt x="21574" y="114230"/>
                  <a:pt x="43593" y="114197"/>
                  <a:pt x="61294" y="116307"/>
                </a:cubicBezTo>
                <a:cubicBezTo>
                  <a:pt x="67565" y="117131"/>
                  <a:pt x="74085" y="117568"/>
                  <a:pt x="80685" y="117568"/>
                </a:cubicBezTo>
                <a:cubicBezTo>
                  <a:pt x="120172" y="117568"/>
                  <a:pt x="162555" y="101925"/>
                  <a:pt x="172031" y="59859"/>
                </a:cubicBezTo>
                <a:cubicBezTo>
                  <a:pt x="176909" y="40445"/>
                  <a:pt x="173843" y="3214"/>
                  <a:pt x="1490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3" name="Google Shape;83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568850" y="3004050"/>
            <a:ext cx="3418375" cy="2960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7892862">
            <a:off x="8886562" y="16939"/>
            <a:ext cx="642748" cy="2985122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171" y="405094"/>
            <a:ext cx="557000" cy="1347687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8999989">
            <a:off x="5780022" y="4183716"/>
            <a:ext cx="474806" cy="601418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8100334" flipH="1">
            <a:off x="8551403" y="452156"/>
            <a:ext cx="508392" cy="643962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4524976">
            <a:off x="201670" y="1795121"/>
            <a:ext cx="326011" cy="4129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4_1_1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0"/>
          <p:cNvSpPr txBox="1">
            <a:spLocks noGrp="1"/>
          </p:cNvSpPr>
          <p:nvPr>
            <p:ph type="title"/>
          </p:nvPr>
        </p:nvSpPr>
        <p:spPr>
          <a:xfrm>
            <a:off x="2246300" y="1506125"/>
            <a:ext cx="4651200" cy="940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198" name="Google Shape;198;p20"/>
          <p:cNvSpPr txBox="1">
            <a:spLocks noGrp="1"/>
          </p:cNvSpPr>
          <p:nvPr>
            <p:ph type="subTitle" idx="1"/>
          </p:nvPr>
        </p:nvSpPr>
        <p:spPr>
          <a:xfrm>
            <a:off x="2246509" y="2446388"/>
            <a:ext cx="4651200" cy="10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20"/>
          <p:cNvSpPr/>
          <p:nvPr/>
        </p:nvSpPr>
        <p:spPr>
          <a:xfrm flipH="1">
            <a:off x="5816181" y="-1270171"/>
            <a:ext cx="5305947" cy="3779721"/>
          </a:xfrm>
          <a:custGeom>
            <a:avLst/>
            <a:gdLst/>
            <a:ahLst/>
            <a:cxnLst/>
            <a:rect l="l" t="t" r="r" b="b"/>
            <a:pathLst>
              <a:path w="138772" h="98855" extrusionOk="0">
                <a:moveTo>
                  <a:pt x="105901" y="1"/>
                </a:moveTo>
                <a:cubicBezTo>
                  <a:pt x="91900" y="1"/>
                  <a:pt x="78421" y="9122"/>
                  <a:pt x="66980" y="16930"/>
                </a:cubicBezTo>
                <a:cubicBezTo>
                  <a:pt x="55739" y="25237"/>
                  <a:pt x="41253" y="23605"/>
                  <a:pt x="28793" y="28484"/>
                </a:cubicBezTo>
                <a:cubicBezTo>
                  <a:pt x="3725" y="39279"/>
                  <a:pt x="0" y="79459"/>
                  <a:pt x="21030" y="95743"/>
                </a:cubicBezTo>
                <a:cubicBezTo>
                  <a:pt x="24237" y="98016"/>
                  <a:pt x="29214" y="98855"/>
                  <a:pt x="34544" y="98855"/>
                </a:cubicBezTo>
                <a:cubicBezTo>
                  <a:pt x="41814" y="98855"/>
                  <a:pt x="49742" y="97293"/>
                  <a:pt x="54734" y="95677"/>
                </a:cubicBezTo>
                <a:cubicBezTo>
                  <a:pt x="85290" y="87123"/>
                  <a:pt x="86658" y="51194"/>
                  <a:pt x="114198" y="42278"/>
                </a:cubicBezTo>
                <a:cubicBezTo>
                  <a:pt x="136777" y="38290"/>
                  <a:pt x="138771" y="12266"/>
                  <a:pt x="118879" y="2872"/>
                </a:cubicBezTo>
                <a:cubicBezTo>
                  <a:pt x="114533" y="858"/>
                  <a:pt x="110192" y="1"/>
                  <a:pt x="105901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0" name="Google Shape;20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396901" flipH="1">
            <a:off x="679226" y="326079"/>
            <a:ext cx="1147479" cy="168424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8100334">
            <a:off x="122584" y="452156"/>
            <a:ext cx="508392" cy="6439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4524976" flipH="1">
            <a:off x="8306149" y="413209"/>
            <a:ext cx="326011" cy="412957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4078026">
            <a:off x="7149795" y="3677133"/>
            <a:ext cx="779793" cy="18868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_1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22"/>
          <p:cNvSpPr txBox="1">
            <a:spLocks noGrp="1"/>
          </p:cNvSpPr>
          <p:nvPr>
            <p:ph type="subTitle" idx="1"/>
          </p:nvPr>
        </p:nvSpPr>
        <p:spPr>
          <a:xfrm>
            <a:off x="4428153" y="1793700"/>
            <a:ext cx="3996000" cy="210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6" name="Google Shape;216;p22"/>
          <p:cNvSpPr txBox="1">
            <a:spLocks noGrp="1"/>
          </p:cNvSpPr>
          <p:nvPr>
            <p:ph type="subTitle" idx="2"/>
          </p:nvPr>
        </p:nvSpPr>
        <p:spPr>
          <a:xfrm>
            <a:off x="720050" y="1793700"/>
            <a:ext cx="3708000" cy="210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7" name="Google Shape;217;p22"/>
          <p:cNvSpPr/>
          <p:nvPr/>
        </p:nvSpPr>
        <p:spPr>
          <a:xfrm rot="5400000" flipH="1">
            <a:off x="-1012010" y="-2667"/>
            <a:ext cx="3577100" cy="2377225"/>
          </a:xfrm>
          <a:custGeom>
            <a:avLst/>
            <a:gdLst/>
            <a:ahLst/>
            <a:cxnLst/>
            <a:rect l="l" t="t" r="r" b="b"/>
            <a:pathLst>
              <a:path w="176909" h="117568" extrusionOk="0">
                <a:moveTo>
                  <a:pt x="149056" y="0"/>
                </a:moveTo>
                <a:cubicBezTo>
                  <a:pt x="129872" y="1286"/>
                  <a:pt x="120692" y="21475"/>
                  <a:pt x="113143" y="36605"/>
                </a:cubicBezTo>
                <a:cubicBezTo>
                  <a:pt x="108974" y="52575"/>
                  <a:pt x="93745" y="63238"/>
                  <a:pt x="77824" y="65545"/>
                </a:cubicBezTo>
                <a:cubicBezTo>
                  <a:pt x="75544" y="65861"/>
                  <a:pt x="73268" y="65992"/>
                  <a:pt x="70994" y="65992"/>
                </a:cubicBezTo>
                <a:cubicBezTo>
                  <a:pt x="59891" y="65992"/>
                  <a:pt x="48851" y="62867"/>
                  <a:pt x="37738" y="62867"/>
                </a:cubicBezTo>
                <a:cubicBezTo>
                  <a:pt x="35567" y="62867"/>
                  <a:pt x="33393" y="62986"/>
                  <a:pt x="31216" y="63271"/>
                </a:cubicBezTo>
                <a:cubicBezTo>
                  <a:pt x="14075" y="64804"/>
                  <a:pt x="0" y="81433"/>
                  <a:pt x="10697" y="97651"/>
                </a:cubicBezTo>
                <a:cubicBezTo>
                  <a:pt x="21574" y="114230"/>
                  <a:pt x="43593" y="114197"/>
                  <a:pt x="61294" y="116307"/>
                </a:cubicBezTo>
                <a:cubicBezTo>
                  <a:pt x="67565" y="117131"/>
                  <a:pt x="74085" y="117568"/>
                  <a:pt x="80685" y="117568"/>
                </a:cubicBezTo>
                <a:cubicBezTo>
                  <a:pt x="120172" y="117568"/>
                  <a:pt x="162555" y="101925"/>
                  <a:pt x="172031" y="59859"/>
                </a:cubicBezTo>
                <a:cubicBezTo>
                  <a:pt x="176909" y="40445"/>
                  <a:pt x="173843" y="3214"/>
                  <a:pt x="1490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8" name="Google Shape;218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4562926" flipH="1">
            <a:off x="304222" y="-286126"/>
            <a:ext cx="812053" cy="11918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9557823" flipH="1">
            <a:off x="280176" y="3259736"/>
            <a:ext cx="408550" cy="18974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2268240" flipH="1">
            <a:off x="158702" y="623064"/>
            <a:ext cx="481442" cy="609821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22"/>
          <p:cNvSpPr/>
          <p:nvPr/>
        </p:nvSpPr>
        <p:spPr>
          <a:xfrm>
            <a:off x="4340994" y="2172991"/>
            <a:ext cx="6764116" cy="4495212"/>
          </a:xfrm>
          <a:custGeom>
            <a:avLst/>
            <a:gdLst/>
            <a:ahLst/>
            <a:cxnLst/>
            <a:rect l="l" t="t" r="r" b="b"/>
            <a:pathLst>
              <a:path w="176909" h="117568" extrusionOk="0">
                <a:moveTo>
                  <a:pt x="149056" y="0"/>
                </a:moveTo>
                <a:cubicBezTo>
                  <a:pt x="129872" y="1286"/>
                  <a:pt x="120692" y="21475"/>
                  <a:pt x="113143" y="36605"/>
                </a:cubicBezTo>
                <a:cubicBezTo>
                  <a:pt x="108974" y="52575"/>
                  <a:pt x="93745" y="63238"/>
                  <a:pt x="77824" y="65545"/>
                </a:cubicBezTo>
                <a:cubicBezTo>
                  <a:pt x="75544" y="65861"/>
                  <a:pt x="73268" y="65992"/>
                  <a:pt x="70994" y="65992"/>
                </a:cubicBezTo>
                <a:cubicBezTo>
                  <a:pt x="59891" y="65992"/>
                  <a:pt x="48851" y="62867"/>
                  <a:pt x="37738" y="62867"/>
                </a:cubicBezTo>
                <a:cubicBezTo>
                  <a:pt x="35567" y="62867"/>
                  <a:pt x="33393" y="62986"/>
                  <a:pt x="31216" y="63271"/>
                </a:cubicBezTo>
                <a:cubicBezTo>
                  <a:pt x="14075" y="64804"/>
                  <a:pt x="0" y="81433"/>
                  <a:pt x="10697" y="97651"/>
                </a:cubicBezTo>
                <a:cubicBezTo>
                  <a:pt x="21574" y="114230"/>
                  <a:pt x="43593" y="114197"/>
                  <a:pt x="61294" y="116307"/>
                </a:cubicBezTo>
                <a:cubicBezTo>
                  <a:pt x="67565" y="117131"/>
                  <a:pt x="74085" y="117568"/>
                  <a:pt x="80685" y="117568"/>
                </a:cubicBezTo>
                <a:cubicBezTo>
                  <a:pt x="120172" y="117568"/>
                  <a:pt x="162555" y="101925"/>
                  <a:pt x="172031" y="59859"/>
                </a:cubicBezTo>
                <a:cubicBezTo>
                  <a:pt x="176909" y="40445"/>
                  <a:pt x="173843" y="3214"/>
                  <a:pt x="1490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2" name="Google Shape;222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>
            <a:off x="8434558" y="3534606"/>
            <a:ext cx="557000" cy="1347687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731573">
            <a:off x="7998566" y="1032033"/>
            <a:ext cx="2014625" cy="2505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3"/>
          <p:cNvSpPr txBox="1">
            <a:spLocks noGrp="1"/>
          </p:cNvSpPr>
          <p:nvPr>
            <p:ph type="subTitle" idx="1"/>
          </p:nvPr>
        </p:nvSpPr>
        <p:spPr>
          <a:xfrm>
            <a:off x="937625" y="3167128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23"/>
          <p:cNvSpPr txBox="1">
            <a:spLocks noGrp="1"/>
          </p:cNvSpPr>
          <p:nvPr>
            <p:ph type="subTitle" idx="2"/>
          </p:nvPr>
        </p:nvSpPr>
        <p:spPr>
          <a:xfrm>
            <a:off x="3484350" y="3167128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23"/>
          <p:cNvSpPr txBox="1">
            <a:spLocks noGrp="1"/>
          </p:cNvSpPr>
          <p:nvPr>
            <p:ph type="subTitle" idx="3"/>
          </p:nvPr>
        </p:nvSpPr>
        <p:spPr>
          <a:xfrm>
            <a:off x="6031075" y="3167128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9" name="Google Shape;229;p23"/>
          <p:cNvSpPr txBox="1">
            <a:spLocks noGrp="1"/>
          </p:cNvSpPr>
          <p:nvPr>
            <p:ph type="subTitle" idx="4"/>
          </p:nvPr>
        </p:nvSpPr>
        <p:spPr>
          <a:xfrm>
            <a:off x="937625" y="2686525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solidFill>
                  <a:schemeClr val="accent3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230" name="Google Shape;230;p23"/>
          <p:cNvSpPr txBox="1">
            <a:spLocks noGrp="1"/>
          </p:cNvSpPr>
          <p:nvPr>
            <p:ph type="subTitle" idx="5"/>
          </p:nvPr>
        </p:nvSpPr>
        <p:spPr>
          <a:xfrm>
            <a:off x="3484350" y="2686525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solidFill>
                  <a:schemeClr val="accent3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231" name="Google Shape;231;p23"/>
          <p:cNvSpPr txBox="1">
            <a:spLocks noGrp="1"/>
          </p:cNvSpPr>
          <p:nvPr>
            <p:ph type="subTitle" idx="6"/>
          </p:nvPr>
        </p:nvSpPr>
        <p:spPr>
          <a:xfrm>
            <a:off x="6031075" y="2686525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solidFill>
                  <a:schemeClr val="accent3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ria Serif Libre"/>
              <a:buNone/>
              <a:defRPr sz="2400"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232" name="Google Shape;232;p23"/>
          <p:cNvSpPr/>
          <p:nvPr/>
        </p:nvSpPr>
        <p:spPr>
          <a:xfrm flipH="1">
            <a:off x="-1964087" y="2172991"/>
            <a:ext cx="6764116" cy="4495212"/>
          </a:xfrm>
          <a:custGeom>
            <a:avLst/>
            <a:gdLst/>
            <a:ahLst/>
            <a:cxnLst/>
            <a:rect l="l" t="t" r="r" b="b"/>
            <a:pathLst>
              <a:path w="176909" h="117568" extrusionOk="0">
                <a:moveTo>
                  <a:pt x="149056" y="0"/>
                </a:moveTo>
                <a:cubicBezTo>
                  <a:pt x="129872" y="1286"/>
                  <a:pt x="120692" y="21475"/>
                  <a:pt x="113143" y="36605"/>
                </a:cubicBezTo>
                <a:cubicBezTo>
                  <a:pt x="108974" y="52575"/>
                  <a:pt x="93745" y="63238"/>
                  <a:pt x="77824" y="65545"/>
                </a:cubicBezTo>
                <a:cubicBezTo>
                  <a:pt x="75544" y="65861"/>
                  <a:pt x="73268" y="65992"/>
                  <a:pt x="70994" y="65992"/>
                </a:cubicBezTo>
                <a:cubicBezTo>
                  <a:pt x="59891" y="65992"/>
                  <a:pt x="48851" y="62867"/>
                  <a:pt x="37738" y="62867"/>
                </a:cubicBezTo>
                <a:cubicBezTo>
                  <a:pt x="35567" y="62867"/>
                  <a:pt x="33393" y="62986"/>
                  <a:pt x="31216" y="63271"/>
                </a:cubicBezTo>
                <a:cubicBezTo>
                  <a:pt x="14075" y="64804"/>
                  <a:pt x="0" y="81433"/>
                  <a:pt x="10697" y="97651"/>
                </a:cubicBezTo>
                <a:cubicBezTo>
                  <a:pt x="21574" y="114230"/>
                  <a:pt x="43593" y="114197"/>
                  <a:pt x="61294" y="116307"/>
                </a:cubicBezTo>
                <a:cubicBezTo>
                  <a:pt x="67565" y="117131"/>
                  <a:pt x="74085" y="117568"/>
                  <a:pt x="80685" y="117568"/>
                </a:cubicBezTo>
                <a:cubicBezTo>
                  <a:pt x="120172" y="117568"/>
                  <a:pt x="162555" y="101925"/>
                  <a:pt x="172031" y="59859"/>
                </a:cubicBezTo>
                <a:cubicBezTo>
                  <a:pt x="176909" y="40445"/>
                  <a:pt x="173843" y="3214"/>
                  <a:pt x="1490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33" name="Google Shape;233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9465" y="3534606"/>
            <a:ext cx="557000" cy="1347687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2700148" flipH="1">
            <a:off x="829731" y="4621120"/>
            <a:ext cx="364095" cy="461187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408125" y="1085777"/>
            <a:ext cx="1114601" cy="2506447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3"/>
          <p:cNvSpPr/>
          <p:nvPr/>
        </p:nvSpPr>
        <p:spPr>
          <a:xfrm rot="-5400000">
            <a:off x="6575933" y="-2667"/>
            <a:ext cx="3577100" cy="2377225"/>
          </a:xfrm>
          <a:custGeom>
            <a:avLst/>
            <a:gdLst/>
            <a:ahLst/>
            <a:cxnLst/>
            <a:rect l="l" t="t" r="r" b="b"/>
            <a:pathLst>
              <a:path w="176909" h="117568" extrusionOk="0">
                <a:moveTo>
                  <a:pt x="149056" y="0"/>
                </a:moveTo>
                <a:cubicBezTo>
                  <a:pt x="129872" y="1286"/>
                  <a:pt x="120692" y="21475"/>
                  <a:pt x="113143" y="36605"/>
                </a:cubicBezTo>
                <a:cubicBezTo>
                  <a:pt x="108974" y="52575"/>
                  <a:pt x="93745" y="63238"/>
                  <a:pt x="77824" y="65545"/>
                </a:cubicBezTo>
                <a:cubicBezTo>
                  <a:pt x="75544" y="65861"/>
                  <a:pt x="73268" y="65992"/>
                  <a:pt x="70994" y="65992"/>
                </a:cubicBezTo>
                <a:cubicBezTo>
                  <a:pt x="59891" y="65992"/>
                  <a:pt x="48851" y="62867"/>
                  <a:pt x="37738" y="62867"/>
                </a:cubicBezTo>
                <a:cubicBezTo>
                  <a:pt x="35567" y="62867"/>
                  <a:pt x="33393" y="62986"/>
                  <a:pt x="31216" y="63271"/>
                </a:cubicBezTo>
                <a:cubicBezTo>
                  <a:pt x="14075" y="64804"/>
                  <a:pt x="0" y="81433"/>
                  <a:pt x="10697" y="97651"/>
                </a:cubicBezTo>
                <a:cubicBezTo>
                  <a:pt x="21574" y="114230"/>
                  <a:pt x="43593" y="114197"/>
                  <a:pt x="61294" y="116307"/>
                </a:cubicBezTo>
                <a:cubicBezTo>
                  <a:pt x="67565" y="117131"/>
                  <a:pt x="74085" y="117568"/>
                  <a:pt x="80685" y="117568"/>
                </a:cubicBezTo>
                <a:cubicBezTo>
                  <a:pt x="120172" y="117568"/>
                  <a:pt x="162555" y="101925"/>
                  <a:pt x="172031" y="59859"/>
                </a:cubicBezTo>
                <a:cubicBezTo>
                  <a:pt x="176909" y="40445"/>
                  <a:pt x="173843" y="3214"/>
                  <a:pt x="1490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37" name="Google Shape;237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4562926">
            <a:off x="8024748" y="-286126"/>
            <a:ext cx="812053" cy="119189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2268240">
            <a:off x="8322104" y="4299089"/>
            <a:ext cx="481442" cy="60982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2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878763">
            <a:off x="8537324" y="2043837"/>
            <a:ext cx="408550" cy="1897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29"/>
          <p:cNvSpPr txBox="1">
            <a:spLocks noGrp="1"/>
          </p:cNvSpPr>
          <p:nvPr>
            <p:ph type="title"/>
          </p:nvPr>
        </p:nvSpPr>
        <p:spPr>
          <a:xfrm>
            <a:off x="2347950" y="431325"/>
            <a:ext cx="4448100" cy="126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85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29"/>
          <p:cNvSpPr txBox="1">
            <a:spLocks noGrp="1"/>
          </p:cNvSpPr>
          <p:nvPr>
            <p:ph type="subTitle" idx="1"/>
          </p:nvPr>
        </p:nvSpPr>
        <p:spPr>
          <a:xfrm>
            <a:off x="2347900" y="2548825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5" name="Google Shape;335;p29"/>
          <p:cNvSpPr txBox="1"/>
          <p:nvPr/>
        </p:nvSpPr>
        <p:spPr>
          <a:xfrm>
            <a:off x="2302150" y="4081200"/>
            <a:ext cx="45396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rPr>
              <a:t>CREDITS:</a:t>
            </a:r>
            <a:r>
              <a:rPr lang="en" sz="1200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rPr>
              <a:t> This presentation template was created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Baloo 2"/>
                <a:ea typeface="Baloo 2"/>
                <a:cs typeface="Baloo 2"/>
                <a:sym typeface="Baloo 2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rPr>
              <a:t>, and includes icons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Baloo 2"/>
                <a:ea typeface="Baloo 2"/>
                <a:cs typeface="Baloo 2"/>
                <a:sym typeface="Baloo 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rPr>
              <a:t>, and infographics &amp; images by </a:t>
            </a:r>
            <a:r>
              <a:rPr lang="en" sz="1200" b="1">
                <a:solidFill>
                  <a:schemeClr val="dk1"/>
                </a:solidFill>
                <a:uFill>
                  <a:noFill/>
                </a:uFill>
                <a:latin typeface="Baloo 2"/>
                <a:ea typeface="Baloo 2"/>
                <a:cs typeface="Baloo 2"/>
                <a:sym typeface="Baloo 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rPr>
              <a:t> </a:t>
            </a:r>
            <a:endParaRPr sz="1200" b="1">
              <a:solidFill>
                <a:schemeClr val="dk1"/>
              </a:solidFill>
              <a:latin typeface="Baloo 2"/>
              <a:ea typeface="Baloo 2"/>
              <a:cs typeface="Baloo 2"/>
              <a:sym typeface="Baloo 2"/>
            </a:endParaRPr>
          </a:p>
        </p:txBody>
      </p:sp>
      <p:pic>
        <p:nvPicPr>
          <p:cNvPr id="336" name="Google Shape;336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-1969750" y="539500"/>
            <a:ext cx="3911360" cy="4064501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29"/>
          <p:cNvSpPr/>
          <p:nvPr/>
        </p:nvSpPr>
        <p:spPr>
          <a:xfrm>
            <a:off x="6196223" y="1115328"/>
            <a:ext cx="5062423" cy="6177965"/>
          </a:xfrm>
          <a:custGeom>
            <a:avLst/>
            <a:gdLst/>
            <a:ahLst/>
            <a:cxnLst/>
            <a:rect l="l" t="t" r="r" b="b"/>
            <a:pathLst>
              <a:path w="129939" h="158572" extrusionOk="0">
                <a:moveTo>
                  <a:pt x="92723" y="0"/>
                </a:moveTo>
                <a:cubicBezTo>
                  <a:pt x="82524" y="0"/>
                  <a:pt x="72194" y="2810"/>
                  <a:pt x="66469" y="7591"/>
                </a:cubicBezTo>
                <a:cubicBezTo>
                  <a:pt x="49345" y="24088"/>
                  <a:pt x="65909" y="51068"/>
                  <a:pt x="52905" y="69345"/>
                </a:cubicBezTo>
                <a:cubicBezTo>
                  <a:pt x="36309" y="90078"/>
                  <a:pt x="1" y="91858"/>
                  <a:pt x="10565" y="128199"/>
                </a:cubicBezTo>
                <a:cubicBezTo>
                  <a:pt x="18668" y="149286"/>
                  <a:pt x="42257" y="158571"/>
                  <a:pt x="65582" y="158571"/>
                </a:cubicBezTo>
                <a:cubicBezTo>
                  <a:pt x="79830" y="158571"/>
                  <a:pt x="93980" y="155107"/>
                  <a:pt x="104442" y="148751"/>
                </a:cubicBezTo>
                <a:cubicBezTo>
                  <a:pt x="128801" y="130902"/>
                  <a:pt x="125966" y="96193"/>
                  <a:pt x="129147" y="69213"/>
                </a:cubicBezTo>
                <a:cubicBezTo>
                  <a:pt x="129938" y="48744"/>
                  <a:pt x="129180" y="19984"/>
                  <a:pt x="116852" y="7788"/>
                </a:cubicBezTo>
                <a:cubicBezTo>
                  <a:pt x="111379" y="2379"/>
                  <a:pt x="102106" y="0"/>
                  <a:pt x="9272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38" name="Google Shape;338;p2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1136944">
            <a:off x="7701923" y="3829984"/>
            <a:ext cx="1539502" cy="1911829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2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1167304" flipH="1">
            <a:off x="7862428" y="3082294"/>
            <a:ext cx="556999" cy="1347687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2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 rot="5051212">
            <a:off x="8263765" y="2333850"/>
            <a:ext cx="375620" cy="47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0"/>
          <p:cNvSpPr/>
          <p:nvPr/>
        </p:nvSpPr>
        <p:spPr>
          <a:xfrm rot="10800000">
            <a:off x="-1964087" y="-1517005"/>
            <a:ext cx="6764116" cy="4495212"/>
          </a:xfrm>
          <a:custGeom>
            <a:avLst/>
            <a:gdLst/>
            <a:ahLst/>
            <a:cxnLst/>
            <a:rect l="l" t="t" r="r" b="b"/>
            <a:pathLst>
              <a:path w="176909" h="117568" extrusionOk="0">
                <a:moveTo>
                  <a:pt x="149056" y="0"/>
                </a:moveTo>
                <a:cubicBezTo>
                  <a:pt x="129872" y="1286"/>
                  <a:pt x="120692" y="21475"/>
                  <a:pt x="113143" y="36605"/>
                </a:cubicBezTo>
                <a:cubicBezTo>
                  <a:pt x="108974" y="52575"/>
                  <a:pt x="93745" y="63238"/>
                  <a:pt x="77824" y="65545"/>
                </a:cubicBezTo>
                <a:cubicBezTo>
                  <a:pt x="75544" y="65861"/>
                  <a:pt x="73268" y="65992"/>
                  <a:pt x="70994" y="65992"/>
                </a:cubicBezTo>
                <a:cubicBezTo>
                  <a:pt x="59891" y="65992"/>
                  <a:pt x="48851" y="62867"/>
                  <a:pt x="37738" y="62867"/>
                </a:cubicBezTo>
                <a:cubicBezTo>
                  <a:pt x="35567" y="62867"/>
                  <a:pt x="33393" y="62986"/>
                  <a:pt x="31216" y="63271"/>
                </a:cubicBezTo>
                <a:cubicBezTo>
                  <a:pt x="14075" y="64804"/>
                  <a:pt x="0" y="81433"/>
                  <a:pt x="10697" y="97651"/>
                </a:cubicBezTo>
                <a:cubicBezTo>
                  <a:pt x="21574" y="114230"/>
                  <a:pt x="43593" y="114197"/>
                  <a:pt x="61294" y="116307"/>
                </a:cubicBezTo>
                <a:cubicBezTo>
                  <a:pt x="67565" y="117131"/>
                  <a:pt x="74085" y="117568"/>
                  <a:pt x="80685" y="117568"/>
                </a:cubicBezTo>
                <a:cubicBezTo>
                  <a:pt x="120172" y="117568"/>
                  <a:pt x="162555" y="101925"/>
                  <a:pt x="172031" y="59859"/>
                </a:cubicBezTo>
                <a:cubicBezTo>
                  <a:pt x="176909" y="40445"/>
                  <a:pt x="173843" y="3214"/>
                  <a:pt x="1490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30"/>
          <p:cNvSpPr/>
          <p:nvPr/>
        </p:nvSpPr>
        <p:spPr>
          <a:xfrm rot="-5400000" flipH="1">
            <a:off x="6575933" y="2776641"/>
            <a:ext cx="3577100" cy="2377225"/>
          </a:xfrm>
          <a:custGeom>
            <a:avLst/>
            <a:gdLst/>
            <a:ahLst/>
            <a:cxnLst/>
            <a:rect l="l" t="t" r="r" b="b"/>
            <a:pathLst>
              <a:path w="176909" h="117568" extrusionOk="0">
                <a:moveTo>
                  <a:pt x="149056" y="0"/>
                </a:moveTo>
                <a:cubicBezTo>
                  <a:pt x="129872" y="1286"/>
                  <a:pt x="120692" y="21475"/>
                  <a:pt x="113143" y="36605"/>
                </a:cubicBezTo>
                <a:cubicBezTo>
                  <a:pt x="108974" y="52575"/>
                  <a:pt x="93745" y="63238"/>
                  <a:pt x="77824" y="65545"/>
                </a:cubicBezTo>
                <a:cubicBezTo>
                  <a:pt x="75544" y="65861"/>
                  <a:pt x="73268" y="65992"/>
                  <a:pt x="70994" y="65992"/>
                </a:cubicBezTo>
                <a:cubicBezTo>
                  <a:pt x="59891" y="65992"/>
                  <a:pt x="48851" y="62867"/>
                  <a:pt x="37738" y="62867"/>
                </a:cubicBezTo>
                <a:cubicBezTo>
                  <a:pt x="35567" y="62867"/>
                  <a:pt x="33393" y="62986"/>
                  <a:pt x="31216" y="63271"/>
                </a:cubicBezTo>
                <a:cubicBezTo>
                  <a:pt x="14075" y="64804"/>
                  <a:pt x="0" y="81433"/>
                  <a:pt x="10697" y="97651"/>
                </a:cubicBezTo>
                <a:cubicBezTo>
                  <a:pt x="21574" y="114230"/>
                  <a:pt x="43593" y="114197"/>
                  <a:pt x="61294" y="116307"/>
                </a:cubicBezTo>
                <a:cubicBezTo>
                  <a:pt x="67565" y="117131"/>
                  <a:pt x="74085" y="117568"/>
                  <a:pt x="80685" y="117568"/>
                </a:cubicBezTo>
                <a:cubicBezTo>
                  <a:pt x="120172" y="117568"/>
                  <a:pt x="162555" y="101925"/>
                  <a:pt x="172031" y="59859"/>
                </a:cubicBezTo>
                <a:cubicBezTo>
                  <a:pt x="176909" y="40445"/>
                  <a:pt x="173843" y="3214"/>
                  <a:pt x="1490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44" name="Google Shape;344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149465" y="268905"/>
            <a:ext cx="557000" cy="1347687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8099852">
            <a:off x="829731" y="68892"/>
            <a:ext cx="364095" cy="461187"/>
          </a:xfrm>
          <a:prstGeom prst="rect">
            <a:avLst/>
          </a:prstGeom>
          <a:noFill/>
          <a:ln>
            <a:noFill/>
          </a:ln>
        </p:spPr>
      </p:pic>
      <p:pic>
        <p:nvPicPr>
          <p:cNvPr id="346" name="Google Shape;346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6237074" flipH="1">
            <a:off x="8024748" y="4245434"/>
            <a:ext cx="812053" cy="1191891"/>
          </a:xfrm>
          <a:prstGeom prst="rect">
            <a:avLst/>
          </a:prstGeom>
          <a:noFill/>
          <a:ln>
            <a:noFill/>
          </a:ln>
        </p:spPr>
      </p:pic>
      <p:pic>
        <p:nvPicPr>
          <p:cNvPr id="347" name="Google Shape;347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8531760" flipH="1">
            <a:off x="8322104" y="242288"/>
            <a:ext cx="481442" cy="609821"/>
          </a:xfrm>
          <a:prstGeom prst="rect">
            <a:avLst/>
          </a:prstGeom>
          <a:noFill/>
          <a:ln>
            <a:noFill/>
          </a:ln>
        </p:spPr>
      </p:pic>
      <p:pic>
        <p:nvPicPr>
          <p:cNvPr id="348" name="Google Shape;348;p3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9921237" flipH="1">
            <a:off x="8537324" y="1209937"/>
            <a:ext cx="408550" cy="1897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3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10800000" flipH="1">
            <a:off x="-408125" y="1558975"/>
            <a:ext cx="1114601" cy="25064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1"/>
          <p:cNvSpPr/>
          <p:nvPr/>
        </p:nvSpPr>
        <p:spPr>
          <a:xfrm rot="9716712">
            <a:off x="-399459" y="-231555"/>
            <a:ext cx="2677097" cy="1779112"/>
          </a:xfrm>
          <a:custGeom>
            <a:avLst/>
            <a:gdLst/>
            <a:ahLst/>
            <a:cxnLst/>
            <a:rect l="l" t="t" r="r" b="b"/>
            <a:pathLst>
              <a:path w="176909" h="117568" extrusionOk="0">
                <a:moveTo>
                  <a:pt x="149056" y="0"/>
                </a:moveTo>
                <a:cubicBezTo>
                  <a:pt x="129872" y="1286"/>
                  <a:pt x="120692" y="21475"/>
                  <a:pt x="113143" y="36605"/>
                </a:cubicBezTo>
                <a:cubicBezTo>
                  <a:pt x="108974" y="52575"/>
                  <a:pt x="93745" y="63238"/>
                  <a:pt x="77824" y="65545"/>
                </a:cubicBezTo>
                <a:cubicBezTo>
                  <a:pt x="75544" y="65861"/>
                  <a:pt x="73268" y="65992"/>
                  <a:pt x="70994" y="65992"/>
                </a:cubicBezTo>
                <a:cubicBezTo>
                  <a:pt x="59891" y="65992"/>
                  <a:pt x="48851" y="62867"/>
                  <a:pt x="37738" y="62867"/>
                </a:cubicBezTo>
                <a:cubicBezTo>
                  <a:pt x="35567" y="62867"/>
                  <a:pt x="33393" y="62986"/>
                  <a:pt x="31216" y="63271"/>
                </a:cubicBezTo>
                <a:cubicBezTo>
                  <a:pt x="14075" y="64804"/>
                  <a:pt x="0" y="81433"/>
                  <a:pt x="10697" y="97651"/>
                </a:cubicBezTo>
                <a:cubicBezTo>
                  <a:pt x="21574" y="114230"/>
                  <a:pt x="43593" y="114197"/>
                  <a:pt x="61294" y="116307"/>
                </a:cubicBezTo>
                <a:cubicBezTo>
                  <a:pt x="67565" y="117131"/>
                  <a:pt x="74085" y="117568"/>
                  <a:pt x="80685" y="117568"/>
                </a:cubicBezTo>
                <a:cubicBezTo>
                  <a:pt x="120172" y="117568"/>
                  <a:pt x="162555" y="101925"/>
                  <a:pt x="172031" y="59859"/>
                </a:cubicBezTo>
                <a:cubicBezTo>
                  <a:pt x="176909" y="40445"/>
                  <a:pt x="173843" y="3214"/>
                  <a:pt x="1490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52" name="Google Shape;352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149465" y="522096"/>
            <a:ext cx="557000" cy="1347687"/>
          </a:xfrm>
          <a:prstGeom prst="rect">
            <a:avLst/>
          </a:prstGeom>
          <a:noFill/>
          <a:ln>
            <a:noFill/>
          </a:ln>
        </p:spPr>
      </p:pic>
      <p:pic>
        <p:nvPicPr>
          <p:cNvPr id="353" name="Google Shape;353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8099852">
            <a:off x="757043" y="221832"/>
            <a:ext cx="364095" cy="461187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0" y="2714540"/>
            <a:ext cx="1114601" cy="2506447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31"/>
          <p:cNvSpPr/>
          <p:nvPr/>
        </p:nvSpPr>
        <p:spPr>
          <a:xfrm rot="-5400000" flipH="1">
            <a:off x="6575933" y="3029831"/>
            <a:ext cx="3577100" cy="2377225"/>
          </a:xfrm>
          <a:custGeom>
            <a:avLst/>
            <a:gdLst/>
            <a:ahLst/>
            <a:cxnLst/>
            <a:rect l="l" t="t" r="r" b="b"/>
            <a:pathLst>
              <a:path w="176909" h="117568" extrusionOk="0">
                <a:moveTo>
                  <a:pt x="149056" y="0"/>
                </a:moveTo>
                <a:cubicBezTo>
                  <a:pt x="129872" y="1286"/>
                  <a:pt x="120692" y="21475"/>
                  <a:pt x="113143" y="36605"/>
                </a:cubicBezTo>
                <a:cubicBezTo>
                  <a:pt x="108974" y="52575"/>
                  <a:pt x="93745" y="63238"/>
                  <a:pt x="77824" y="65545"/>
                </a:cubicBezTo>
                <a:cubicBezTo>
                  <a:pt x="75544" y="65861"/>
                  <a:pt x="73268" y="65992"/>
                  <a:pt x="70994" y="65992"/>
                </a:cubicBezTo>
                <a:cubicBezTo>
                  <a:pt x="59891" y="65992"/>
                  <a:pt x="48851" y="62867"/>
                  <a:pt x="37738" y="62867"/>
                </a:cubicBezTo>
                <a:cubicBezTo>
                  <a:pt x="35567" y="62867"/>
                  <a:pt x="33393" y="62986"/>
                  <a:pt x="31216" y="63271"/>
                </a:cubicBezTo>
                <a:cubicBezTo>
                  <a:pt x="14075" y="64804"/>
                  <a:pt x="0" y="81433"/>
                  <a:pt x="10697" y="97651"/>
                </a:cubicBezTo>
                <a:cubicBezTo>
                  <a:pt x="21574" y="114230"/>
                  <a:pt x="43593" y="114197"/>
                  <a:pt x="61294" y="116307"/>
                </a:cubicBezTo>
                <a:cubicBezTo>
                  <a:pt x="67565" y="117131"/>
                  <a:pt x="74085" y="117568"/>
                  <a:pt x="80685" y="117568"/>
                </a:cubicBezTo>
                <a:cubicBezTo>
                  <a:pt x="120172" y="117568"/>
                  <a:pt x="162555" y="101925"/>
                  <a:pt x="172031" y="59859"/>
                </a:cubicBezTo>
                <a:cubicBezTo>
                  <a:pt x="176909" y="40445"/>
                  <a:pt x="173843" y="3214"/>
                  <a:pt x="1490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56" name="Google Shape;356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6237074" flipH="1">
            <a:off x="8024748" y="4498624"/>
            <a:ext cx="812053" cy="1191891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3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8531760" flipH="1">
            <a:off x="8322104" y="495478"/>
            <a:ext cx="481442" cy="609821"/>
          </a:xfrm>
          <a:prstGeom prst="rect">
            <a:avLst/>
          </a:prstGeom>
          <a:noFill/>
          <a:ln>
            <a:noFill/>
          </a:ln>
        </p:spPr>
      </p:pic>
      <p:pic>
        <p:nvPicPr>
          <p:cNvPr id="358" name="Google Shape;358;p3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878763">
            <a:off x="8537324" y="1463127"/>
            <a:ext cx="408550" cy="1897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Font typeface="Averia Serif Libre"/>
              <a:buNone/>
              <a:defRPr sz="3500">
                <a:solidFill>
                  <a:schemeClr val="accen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veria Serif Libre"/>
              <a:buNone/>
              <a:defRPr sz="3500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veria Serif Libre"/>
              <a:buNone/>
              <a:defRPr sz="3500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veria Serif Libre"/>
              <a:buNone/>
              <a:defRPr sz="3500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veria Serif Libre"/>
              <a:buNone/>
              <a:defRPr sz="3500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veria Serif Libre"/>
              <a:buNone/>
              <a:defRPr sz="3500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veria Serif Libre"/>
              <a:buNone/>
              <a:defRPr sz="3500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veria Serif Libre"/>
              <a:buNone/>
              <a:defRPr sz="3500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veria Serif Libre"/>
              <a:buNone/>
              <a:defRPr sz="3500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Char char="●"/>
              <a:defRPr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Char char="○"/>
              <a:defRPr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Char char="■"/>
              <a:defRPr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Char char="●"/>
              <a:defRPr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Char char="○"/>
              <a:defRPr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Char char="■"/>
              <a:defRPr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Char char="●"/>
              <a:defRPr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Char char="○"/>
              <a:defRPr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Baloo 2"/>
              <a:buChar char="■"/>
              <a:defRPr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5" r:id="rId4"/>
    <p:sldLayoutId id="2147483658" r:id="rId5"/>
    <p:sldLayoutId id="2147483666" r:id="rId6"/>
    <p:sldLayoutId id="2147483668" r:id="rId7"/>
    <p:sldLayoutId id="2147483669" r:id="rId8"/>
    <p:sldLayoutId id="2147483675" r:id="rId9"/>
    <p:sldLayoutId id="2147483676" r:id="rId10"/>
    <p:sldLayoutId id="2147483677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4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8.png"/><Relationship Id="rId4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5" Type="http://schemas.openxmlformats.org/officeDocument/2006/relationships/image" Target="../media/image17.png"/><Relationship Id="rId4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6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10" Type="http://schemas.openxmlformats.org/officeDocument/2006/relationships/image" Target="../media/image17.png"/><Relationship Id="rId4" Type="http://schemas.openxmlformats.org/officeDocument/2006/relationships/image" Target="../media/image21.png"/><Relationship Id="rId9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3" Type="http://schemas.openxmlformats.org/officeDocument/2006/relationships/image" Target="../media/image16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17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4" Type="http://schemas.openxmlformats.org/officeDocument/2006/relationships/image" Target="../media/image21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1.png"/><Relationship Id="rId3" Type="http://schemas.openxmlformats.org/officeDocument/2006/relationships/image" Target="../media/image10.png"/><Relationship Id="rId7" Type="http://schemas.openxmlformats.org/officeDocument/2006/relationships/image" Target="../media/image34.png"/><Relationship Id="rId12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3.png"/><Relationship Id="rId11" Type="http://schemas.openxmlformats.org/officeDocument/2006/relationships/image" Target="../media/image39.png"/><Relationship Id="rId5" Type="http://schemas.openxmlformats.org/officeDocument/2006/relationships/image" Target="../media/image3.png"/><Relationship Id="rId15" Type="http://schemas.openxmlformats.org/officeDocument/2006/relationships/image" Target="../media/image21.png"/><Relationship Id="rId10" Type="http://schemas.openxmlformats.org/officeDocument/2006/relationships/image" Target="../media/image38.png"/><Relationship Id="rId4" Type="http://schemas.openxmlformats.org/officeDocument/2006/relationships/image" Target="../media/image7.png"/><Relationship Id="rId9" Type="http://schemas.openxmlformats.org/officeDocument/2006/relationships/image" Target="../media/image36.png"/><Relationship Id="rId14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1.png"/><Relationship Id="rId4" Type="http://schemas.openxmlformats.org/officeDocument/2006/relationships/image" Target="../media/image4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11" Type="http://schemas.openxmlformats.org/officeDocument/2006/relationships/image" Target="../media/image47.png"/><Relationship Id="rId5" Type="http://schemas.openxmlformats.org/officeDocument/2006/relationships/image" Target="../media/image41.png"/><Relationship Id="rId10" Type="http://schemas.openxmlformats.org/officeDocument/2006/relationships/image" Target="../media/image46.png"/><Relationship Id="rId4" Type="http://schemas.openxmlformats.org/officeDocument/2006/relationships/image" Target="../media/image44.png"/><Relationship Id="rId9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8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11" Type="http://schemas.openxmlformats.org/officeDocument/2006/relationships/image" Target="../media/image19.png"/><Relationship Id="rId5" Type="http://schemas.openxmlformats.org/officeDocument/2006/relationships/image" Target="../media/image9.png"/><Relationship Id="rId10" Type="http://schemas.openxmlformats.org/officeDocument/2006/relationships/image" Target="../media/image46.png"/><Relationship Id="rId4" Type="http://schemas.openxmlformats.org/officeDocument/2006/relationships/image" Target="../media/image7.png"/><Relationship Id="rId9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felisariaurora/Computational_Gastronomy_Analysis" TargetMode="External"/><Relationship Id="rId3" Type="http://schemas.openxmlformats.org/officeDocument/2006/relationships/hyperlink" Target="mailto:aurora.felisari@studenti.unipr.it" TargetMode="External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6.png"/><Relationship Id="rId5" Type="http://schemas.openxmlformats.org/officeDocument/2006/relationships/image" Target="../media/image43.png"/><Relationship Id="rId4" Type="http://schemas.openxmlformats.org/officeDocument/2006/relationships/image" Target="../media/image15.png"/><Relationship Id="rId9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5"/>
          <p:cNvSpPr txBox="1">
            <a:spLocks noGrp="1"/>
          </p:cNvSpPr>
          <p:nvPr>
            <p:ph type="ctrTitle"/>
          </p:nvPr>
        </p:nvSpPr>
        <p:spPr>
          <a:xfrm>
            <a:off x="2065049" y="1577481"/>
            <a:ext cx="5093614" cy="250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 err="1">
                <a:solidFill>
                  <a:schemeClr val="accent3"/>
                </a:solidFill>
              </a:rPr>
              <a:t>Gastronomia</a:t>
            </a:r>
            <a:br>
              <a:rPr lang="en-US" sz="4800" dirty="0">
                <a:solidFill>
                  <a:schemeClr val="accent3"/>
                </a:solidFill>
              </a:rPr>
            </a:br>
            <a:r>
              <a:rPr lang="en-US" sz="4800" dirty="0" err="1"/>
              <a:t>Computazionale</a:t>
            </a:r>
            <a:endParaRPr sz="4800" dirty="0"/>
          </a:p>
        </p:txBody>
      </p:sp>
      <p:sp>
        <p:nvSpPr>
          <p:cNvPr id="370" name="Google Shape;370;p35"/>
          <p:cNvSpPr txBox="1">
            <a:spLocks noGrp="1"/>
          </p:cNvSpPr>
          <p:nvPr>
            <p:ph type="subTitle" idx="1"/>
          </p:nvPr>
        </p:nvSpPr>
        <p:spPr>
          <a:xfrm>
            <a:off x="1868512" y="4484263"/>
            <a:ext cx="4675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Felisari Aurora, 379867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71" name="Google Shape;371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552787" y="255383"/>
            <a:ext cx="2532018" cy="2106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2" name="Google Shape;372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44480" y="1221823"/>
            <a:ext cx="2014625" cy="2167358"/>
          </a:xfrm>
          <a:prstGeom prst="rect">
            <a:avLst/>
          </a:prstGeom>
          <a:noFill/>
          <a:ln>
            <a:noFill/>
          </a:ln>
        </p:spPr>
      </p:pic>
      <p:pic>
        <p:nvPicPr>
          <p:cNvPr id="373" name="Google Shape;373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64063" y="388709"/>
            <a:ext cx="894600" cy="1313058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3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8100075">
            <a:off x="7763630" y="951531"/>
            <a:ext cx="364095" cy="461187"/>
          </a:xfrm>
          <a:prstGeom prst="rect">
            <a:avLst/>
          </a:prstGeom>
          <a:noFill/>
          <a:ln>
            <a:noFill/>
          </a:ln>
        </p:spPr>
      </p:pic>
      <p:pic>
        <p:nvPicPr>
          <p:cNvPr id="375" name="Google Shape;375;p3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275640" y="4484263"/>
            <a:ext cx="375620" cy="47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6" name="Google Shape;376;p3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 rot="1167304" flipH="1">
            <a:off x="7862428" y="3082294"/>
            <a:ext cx="556999" cy="1347687"/>
          </a:xfrm>
          <a:prstGeom prst="rect">
            <a:avLst/>
          </a:prstGeom>
          <a:noFill/>
          <a:ln>
            <a:noFill/>
          </a:ln>
        </p:spPr>
      </p:pic>
      <p:pic>
        <p:nvPicPr>
          <p:cNvPr id="377" name="Google Shape;377;p3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2700148" flipH="1">
            <a:off x="1394681" y="4254970"/>
            <a:ext cx="364095" cy="461187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35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997650" y="512981"/>
            <a:ext cx="1148700" cy="10645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370;p35">
            <a:extLst>
              <a:ext uri="{FF2B5EF4-FFF2-40B4-BE49-F238E27FC236}">
                <a16:creationId xmlns:a16="http://schemas.microsoft.com/office/drawing/2014/main" id="{0FAE8E3F-CD15-E6C4-0330-174DA54FA8D9}"/>
              </a:ext>
            </a:extLst>
          </p:cNvPr>
          <p:cNvSpPr txBox="1">
            <a:spLocks/>
          </p:cNvSpPr>
          <p:nvPr/>
        </p:nvSpPr>
        <p:spPr>
          <a:xfrm>
            <a:off x="3412360" y="4484263"/>
            <a:ext cx="3832120" cy="4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None/>
              <a:defRPr sz="16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Baloo 2"/>
              <a:buNone/>
              <a:defRPr sz="18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Baloo 2"/>
              <a:buNone/>
              <a:defRPr sz="18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Baloo 2"/>
              <a:buNone/>
              <a:defRPr sz="18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Baloo 2"/>
              <a:buNone/>
              <a:defRPr sz="18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Baloo 2"/>
              <a:buNone/>
              <a:defRPr sz="18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Baloo 2"/>
              <a:buNone/>
              <a:defRPr sz="18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Baloo 2"/>
              <a:buNone/>
              <a:defRPr sz="18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Baloo 2"/>
              <a:buNone/>
              <a:defRPr sz="18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9pPr>
          </a:lstStyle>
          <a:p>
            <a:pPr marL="0" indent="0" algn="r"/>
            <a:r>
              <a:rPr lang="en-US" dirty="0"/>
              <a:t>Laboratorio di AI, 2025-2026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E3E11A-4D12-4255-AE70-D44E3DECFBD6}"/>
              </a:ext>
            </a:extLst>
          </p:cNvPr>
          <p:cNvSpPr txBox="1"/>
          <p:nvPr/>
        </p:nvSpPr>
        <p:spPr>
          <a:xfrm>
            <a:off x="1677294" y="3457365"/>
            <a:ext cx="57894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solidFill>
                  <a:schemeClr val="tx1"/>
                </a:solidFill>
                <a:latin typeface="Averia Serif Libre" panose="020B0604020202020204" charset="0"/>
              </a:rPr>
              <a:t>Analisi</a:t>
            </a:r>
            <a:r>
              <a:rPr lang="en-US" sz="1600" dirty="0">
                <a:solidFill>
                  <a:schemeClr val="tx1"/>
                </a:solidFill>
                <a:latin typeface="Averia Serif Libre" panose="020B0604020202020204" charset="0"/>
              </a:rPr>
              <a:t> delle </a:t>
            </a:r>
            <a:r>
              <a:rPr lang="en-US" sz="1600" dirty="0" err="1">
                <a:solidFill>
                  <a:schemeClr val="tx1"/>
                </a:solidFill>
                <a:latin typeface="Averia Serif Libre" panose="020B0604020202020204" charset="0"/>
              </a:rPr>
              <a:t>reti</a:t>
            </a:r>
            <a:r>
              <a:rPr lang="en-US" sz="1600" dirty="0">
                <a:solidFill>
                  <a:schemeClr val="tx1"/>
                </a:solidFill>
                <a:latin typeface="Averia Serif Libre" panose="020B060402020202020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veria Serif Libre" panose="020B0604020202020204" charset="0"/>
              </a:rPr>
              <a:t>culinarie</a:t>
            </a:r>
            <a:r>
              <a:rPr lang="en-US" sz="1600" dirty="0">
                <a:solidFill>
                  <a:schemeClr val="tx1"/>
                </a:solidFill>
                <a:latin typeface="Averia Serif Libre" panose="020B0604020202020204" charset="0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Averia Serif Libre" panose="020B0604020202020204" charset="0"/>
              </a:rPr>
              <a:t>attraverso</a:t>
            </a:r>
            <a:r>
              <a:rPr lang="en-US" sz="1600" dirty="0">
                <a:solidFill>
                  <a:schemeClr val="tx1"/>
                </a:solidFill>
                <a:latin typeface="Averia Serif Libre" panose="020B0604020202020204" charset="0"/>
              </a:rPr>
              <a:t> Network Science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36"/>
          <p:cNvSpPr txBox="1">
            <a:spLocks noGrp="1"/>
          </p:cNvSpPr>
          <p:nvPr>
            <p:ph type="title"/>
          </p:nvPr>
        </p:nvSpPr>
        <p:spPr>
          <a:xfrm>
            <a:off x="1828122" y="460761"/>
            <a:ext cx="4836827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/>
            <a:r>
              <a:rPr lang="en-US" dirty="0" err="1">
                <a:solidFill>
                  <a:schemeClr val="accent3"/>
                </a:solidFill>
              </a:rPr>
              <a:t>Domanda</a:t>
            </a:r>
            <a:r>
              <a:rPr lang="en-US" dirty="0"/>
              <a:t> di </a:t>
            </a:r>
            <a:r>
              <a:rPr lang="en-US" dirty="0" err="1">
                <a:solidFill>
                  <a:schemeClr val="accent3"/>
                </a:solidFill>
              </a:rPr>
              <a:t>Ricerca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388" name="Google Shape;388;p36"/>
          <p:cNvSpPr/>
          <p:nvPr/>
        </p:nvSpPr>
        <p:spPr>
          <a:xfrm>
            <a:off x="8742407" y="2285351"/>
            <a:ext cx="45525" cy="133925"/>
          </a:xfrm>
          <a:custGeom>
            <a:avLst/>
            <a:gdLst/>
            <a:ahLst/>
            <a:cxnLst/>
            <a:rect l="l" t="t" r="r" b="b"/>
            <a:pathLst>
              <a:path w="1821" h="5357" extrusionOk="0">
                <a:moveTo>
                  <a:pt x="1821" y="2113"/>
                </a:moveTo>
                <a:cubicBezTo>
                  <a:pt x="1821" y="3000"/>
                  <a:pt x="1705" y="5287"/>
                  <a:pt x="1401" y="5334"/>
                </a:cubicBezTo>
                <a:cubicBezTo>
                  <a:pt x="1098" y="5381"/>
                  <a:pt x="0" y="3280"/>
                  <a:pt x="0" y="2393"/>
                </a:cubicBezTo>
                <a:cubicBezTo>
                  <a:pt x="0" y="1506"/>
                  <a:pt x="1098" y="59"/>
                  <a:pt x="1401" y="12"/>
                </a:cubicBezTo>
                <a:cubicBezTo>
                  <a:pt x="1705" y="-35"/>
                  <a:pt x="1821" y="1226"/>
                  <a:pt x="1821" y="2113"/>
                </a:cubicBezTo>
                <a:close/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89" name="Google Shape;389;p36"/>
          <p:cNvSpPr/>
          <p:nvPr/>
        </p:nvSpPr>
        <p:spPr>
          <a:xfrm rot="-10042340">
            <a:off x="8555839" y="2175696"/>
            <a:ext cx="45501" cy="87107"/>
          </a:xfrm>
          <a:custGeom>
            <a:avLst/>
            <a:gdLst/>
            <a:ahLst/>
            <a:cxnLst/>
            <a:rect l="l" t="t" r="r" b="b"/>
            <a:pathLst>
              <a:path w="1821" h="5357" extrusionOk="0">
                <a:moveTo>
                  <a:pt x="1821" y="2113"/>
                </a:moveTo>
                <a:cubicBezTo>
                  <a:pt x="1821" y="3000"/>
                  <a:pt x="1705" y="5287"/>
                  <a:pt x="1401" y="5334"/>
                </a:cubicBezTo>
                <a:cubicBezTo>
                  <a:pt x="1098" y="5381"/>
                  <a:pt x="0" y="3280"/>
                  <a:pt x="0" y="2393"/>
                </a:cubicBezTo>
                <a:cubicBezTo>
                  <a:pt x="0" y="1506"/>
                  <a:pt x="1098" y="59"/>
                  <a:pt x="1401" y="12"/>
                </a:cubicBezTo>
                <a:cubicBezTo>
                  <a:pt x="1705" y="-35"/>
                  <a:pt x="1821" y="1226"/>
                  <a:pt x="1821" y="2113"/>
                </a:cubicBezTo>
                <a:close/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90" name="Google Shape;390;p36"/>
          <p:cNvSpPr/>
          <p:nvPr/>
        </p:nvSpPr>
        <p:spPr>
          <a:xfrm rot="-10042082">
            <a:off x="8619583" y="2389312"/>
            <a:ext cx="18923" cy="87120"/>
          </a:xfrm>
          <a:custGeom>
            <a:avLst/>
            <a:gdLst/>
            <a:ahLst/>
            <a:cxnLst/>
            <a:rect l="l" t="t" r="r" b="b"/>
            <a:pathLst>
              <a:path w="1821" h="5357" extrusionOk="0">
                <a:moveTo>
                  <a:pt x="1821" y="2113"/>
                </a:moveTo>
                <a:cubicBezTo>
                  <a:pt x="1821" y="3000"/>
                  <a:pt x="1705" y="5287"/>
                  <a:pt x="1401" y="5334"/>
                </a:cubicBezTo>
                <a:cubicBezTo>
                  <a:pt x="1098" y="5381"/>
                  <a:pt x="0" y="3280"/>
                  <a:pt x="0" y="2393"/>
                </a:cubicBezTo>
                <a:cubicBezTo>
                  <a:pt x="0" y="1506"/>
                  <a:pt x="1098" y="59"/>
                  <a:pt x="1401" y="12"/>
                </a:cubicBezTo>
                <a:cubicBezTo>
                  <a:pt x="1705" y="-35"/>
                  <a:pt x="1821" y="1226"/>
                  <a:pt x="1821" y="2113"/>
                </a:cubicBezTo>
                <a:close/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91" name="Google Shape;391;p36"/>
          <p:cNvSpPr/>
          <p:nvPr/>
        </p:nvSpPr>
        <p:spPr>
          <a:xfrm rot="330997">
            <a:off x="8624844" y="2067444"/>
            <a:ext cx="8429" cy="37766"/>
          </a:xfrm>
          <a:custGeom>
            <a:avLst/>
            <a:gdLst/>
            <a:ahLst/>
            <a:cxnLst/>
            <a:rect l="l" t="t" r="r" b="b"/>
            <a:pathLst>
              <a:path w="1821" h="5357" extrusionOk="0">
                <a:moveTo>
                  <a:pt x="1821" y="2113"/>
                </a:moveTo>
                <a:cubicBezTo>
                  <a:pt x="1821" y="3000"/>
                  <a:pt x="1705" y="5287"/>
                  <a:pt x="1401" y="5334"/>
                </a:cubicBezTo>
                <a:cubicBezTo>
                  <a:pt x="1098" y="5381"/>
                  <a:pt x="0" y="3280"/>
                  <a:pt x="0" y="2393"/>
                </a:cubicBezTo>
                <a:cubicBezTo>
                  <a:pt x="0" y="1506"/>
                  <a:pt x="1098" y="59"/>
                  <a:pt x="1401" y="12"/>
                </a:cubicBezTo>
                <a:cubicBezTo>
                  <a:pt x="1705" y="-35"/>
                  <a:pt x="1821" y="1226"/>
                  <a:pt x="1821" y="2113"/>
                </a:cubicBezTo>
                <a:close/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92" name="Google Shape;392;p36"/>
          <p:cNvSpPr/>
          <p:nvPr/>
        </p:nvSpPr>
        <p:spPr>
          <a:xfrm rot="-10042030">
            <a:off x="8686121" y="2200369"/>
            <a:ext cx="8430" cy="37768"/>
          </a:xfrm>
          <a:custGeom>
            <a:avLst/>
            <a:gdLst/>
            <a:ahLst/>
            <a:cxnLst/>
            <a:rect l="l" t="t" r="r" b="b"/>
            <a:pathLst>
              <a:path w="1821" h="5357" extrusionOk="0">
                <a:moveTo>
                  <a:pt x="1821" y="2113"/>
                </a:moveTo>
                <a:cubicBezTo>
                  <a:pt x="1821" y="3000"/>
                  <a:pt x="1705" y="5287"/>
                  <a:pt x="1401" y="5334"/>
                </a:cubicBezTo>
                <a:cubicBezTo>
                  <a:pt x="1098" y="5381"/>
                  <a:pt x="0" y="3280"/>
                  <a:pt x="0" y="2393"/>
                </a:cubicBezTo>
                <a:cubicBezTo>
                  <a:pt x="0" y="1506"/>
                  <a:pt x="1098" y="59"/>
                  <a:pt x="1401" y="12"/>
                </a:cubicBezTo>
                <a:cubicBezTo>
                  <a:pt x="1705" y="-35"/>
                  <a:pt x="1821" y="1226"/>
                  <a:pt x="1821" y="2113"/>
                </a:cubicBezTo>
                <a:close/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93" name="Google Shape;393;p36"/>
          <p:cNvSpPr/>
          <p:nvPr/>
        </p:nvSpPr>
        <p:spPr>
          <a:xfrm rot="-352922">
            <a:off x="8755703" y="2067862"/>
            <a:ext cx="18924" cy="87122"/>
          </a:xfrm>
          <a:custGeom>
            <a:avLst/>
            <a:gdLst/>
            <a:ahLst/>
            <a:cxnLst/>
            <a:rect l="l" t="t" r="r" b="b"/>
            <a:pathLst>
              <a:path w="1821" h="5357" extrusionOk="0">
                <a:moveTo>
                  <a:pt x="1821" y="2113"/>
                </a:moveTo>
                <a:cubicBezTo>
                  <a:pt x="1821" y="3000"/>
                  <a:pt x="1705" y="5287"/>
                  <a:pt x="1401" y="5334"/>
                </a:cubicBezTo>
                <a:cubicBezTo>
                  <a:pt x="1098" y="5381"/>
                  <a:pt x="0" y="3280"/>
                  <a:pt x="0" y="2393"/>
                </a:cubicBezTo>
                <a:cubicBezTo>
                  <a:pt x="0" y="1506"/>
                  <a:pt x="1098" y="59"/>
                  <a:pt x="1401" y="12"/>
                </a:cubicBezTo>
                <a:cubicBezTo>
                  <a:pt x="1705" y="-35"/>
                  <a:pt x="1821" y="1226"/>
                  <a:pt x="1821" y="2113"/>
                </a:cubicBezTo>
                <a:close/>
              </a:path>
            </a:pathLst>
          </a:cu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5" name="Google Shape;463;p42">
            <a:extLst>
              <a:ext uri="{FF2B5EF4-FFF2-40B4-BE49-F238E27FC236}">
                <a16:creationId xmlns:a16="http://schemas.microsoft.com/office/drawing/2014/main" id="{35F304D1-F2A2-F863-A660-3701616BA19F}"/>
              </a:ext>
            </a:extLst>
          </p:cNvPr>
          <p:cNvSpPr txBox="1">
            <a:spLocks/>
          </p:cNvSpPr>
          <p:nvPr/>
        </p:nvSpPr>
        <p:spPr>
          <a:xfrm>
            <a:off x="720000" y="1608963"/>
            <a:ext cx="3664431" cy="25464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chemeClr val="dk1"/>
              </a:buClr>
              <a:buSzPts val="1100"/>
            </a:pPr>
            <a:endParaRPr lang="en-US" sz="1800" dirty="0">
              <a:latin typeface="Baloo 2" panose="020B0604020202020204" charset="0"/>
              <a:cs typeface="Baloo 2" panose="020B0604020202020204" charset="0"/>
            </a:endParaRPr>
          </a:p>
        </p:txBody>
      </p:sp>
      <p:sp>
        <p:nvSpPr>
          <p:cNvPr id="23" name="Google Shape;474;p43">
            <a:extLst>
              <a:ext uri="{FF2B5EF4-FFF2-40B4-BE49-F238E27FC236}">
                <a16:creationId xmlns:a16="http://schemas.microsoft.com/office/drawing/2014/main" id="{0FF42165-9C0B-E666-DCCA-AE8A49F62338}"/>
              </a:ext>
            </a:extLst>
          </p:cNvPr>
          <p:cNvSpPr txBox="1">
            <a:spLocks/>
          </p:cNvSpPr>
          <p:nvPr/>
        </p:nvSpPr>
        <p:spPr>
          <a:xfrm>
            <a:off x="899257" y="2090497"/>
            <a:ext cx="2903630" cy="13794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it-IT" sz="20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Ricette classiche</a:t>
            </a:r>
          </a:p>
          <a:p>
            <a:r>
              <a:rPr lang="it-IT" sz="20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Ingredienti canonici</a:t>
            </a:r>
          </a:p>
          <a:p>
            <a:r>
              <a:rPr lang="it-IT" sz="20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Approccio consolidato</a:t>
            </a:r>
            <a:endParaRPr lang="en-US" sz="2000" dirty="0">
              <a:solidFill>
                <a:schemeClr val="tx1"/>
              </a:solidFill>
              <a:latin typeface="Baloo 2" panose="020B0604020202020204" charset="0"/>
              <a:cs typeface="Baloo 2" panose="020B0604020202020204" charset="0"/>
            </a:endParaRPr>
          </a:p>
        </p:txBody>
      </p:sp>
      <p:sp>
        <p:nvSpPr>
          <p:cNvPr id="24" name="Google Shape;475;p43">
            <a:extLst>
              <a:ext uri="{FF2B5EF4-FFF2-40B4-BE49-F238E27FC236}">
                <a16:creationId xmlns:a16="http://schemas.microsoft.com/office/drawing/2014/main" id="{1C85F2D1-7BFB-DD78-A813-37EA7B858101}"/>
              </a:ext>
            </a:extLst>
          </p:cNvPr>
          <p:cNvSpPr txBox="1">
            <a:spLocks/>
          </p:cNvSpPr>
          <p:nvPr/>
        </p:nvSpPr>
        <p:spPr>
          <a:xfrm>
            <a:off x="899257" y="1408939"/>
            <a:ext cx="2903630" cy="7628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2400" b="1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Cucina </a:t>
            </a:r>
            <a:r>
              <a:rPr lang="en-US" sz="2400" b="1" dirty="0" err="1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Tradizionale</a:t>
            </a:r>
            <a:endParaRPr lang="en-US" sz="2400" b="1" dirty="0">
              <a:solidFill>
                <a:schemeClr val="tx1"/>
              </a:solidFill>
              <a:latin typeface="Baloo 2" panose="020B0604020202020204" charset="0"/>
              <a:cs typeface="Baloo 2" panose="020B0604020202020204" charset="0"/>
            </a:endParaRPr>
          </a:p>
        </p:txBody>
      </p:sp>
      <p:sp>
        <p:nvSpPr>
          <p:cNvPr id="25" name="Google Shape;475;p43">
            <a:extLst>
              <a:ext uri="{FF2B5EF4-FFF2-40B4-BE49-F238E27FC236}">
                <a16:creationId xmlns:a16="http://schemas.microsoft.com/office/drawing/2014/main" id="{97271376-AB1C-068A-E33A-F4B4036DEB5B}"/>
              </a:ext>
            </a:extLst>
          </p:cNvPr>
          <p:cNvSpPr txBox="1">
            <a:spLocks/>
          </p:cNvSpPr>
          <p:nvPr/>
        </p:nvSpPr>
        <p:spPr>
          <a:xfrm>
            <a:off x="5070552" y="1408939"/>
            <a:ext cx="3174190" cy="7628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2400" b="1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Cucina </a:t>
            </a:r>
            <a:r>
              <a:rPr lang="en-US" sz="2400" b="1" dirty="0" err="1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d’Avanguardia</a:t>
            </a:r>
            <a:endParaRPr lang="en-US" sz="2400" b="1" dirty="0">
              <a:solidFill>
                <a:schemeClr val="tx1"/>
              </a:solidFill>
              <a:latin typeface="Baloo 2" panose="020B0604020202020204" charset="0"/>
              <a:cs typeface="Baloo 2" panose="020B0604020202020204" charset="0"/>
            </a:endParaRPr>
          </a:p>
        </p:txBody>
      </p:sp>
      <p:sp>
        <p:nvSpPr>
          <p:cNvPr id="26" name="Google Shape;474;p43">
            <a:extLst>
              <a:ext uri="{FF2B5EF4-FFF2-40B4-BE49-F238E27FC236}">
                <a16:creationId xmlns:a16="http://schemas.microsoft.com/office/drawing/2014/main" id="{008814EB-FF8A-CDBC-CD89-5DF75AFFD582}"/>
              </a:ext>
            </a:extLst>
          </p:cNvPr>
          <p:cNvSpPr txBox="1">
            <a:spLocks/>
          </p:cNvSpPr>
          <p:nvPr/>
        </p:nvSpPr>
        <p:spPr>
          <a:xfrm>
            <a:off x="5556827" y="2159895"/>
            <a:ext cx="2903630" cy="13794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it-IT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Abbinamenti innovativi</a:t>
            </a:r>
          </a:p>
          <a:p>
            <a:r>
              <a:rPr lang="it-IT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Sperimentazione</a:t>
            </a:r>
          </a:p>
          <a:p>
            <a:r>
              <a:rPr lang="it-IT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El Celler de Can Roca</a:t>
            </a:r>
            <a:endParaRPr lang="en-US" sz="1800" dirty="0">
              <a:solidFill>
                <a:schemeClr val="tx1"/>
              </a:solidFill>
              <a:latin typeface="Baloo 2" panose="020B0604020202020204" charset="0"/>
              <a:cs typeface="Baloo 2" panose="020B0604020202020204" charset="0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FDC9866A-3C56-3E3B-5153-098C757A56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7109" y="2285351"/>
            <a:ext cx="1538225" cy="153822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78B704CA-0117-AB28-440C-A65A6E926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42" y="2090244"/>
            <a:ext cx="348089" cy="34808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D505F65-3772-CFEA-2BA7-F2F2EA83C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42" y="2432967"/>
            <a:ext cx="348089" cy="348089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4D50F59B-5D5D-1F31-60F3-2E4440AA90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394" y="2780243"/>
            <a:ext cx="348089" cy="348089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F1F8F514-C7F1-F82B-C378-E250ACB743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6892" y="2207104"/>
            <a:ext cx="348089" cy="348089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F2B4495-45A4-EE04-803E-E1528D7901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6892" y="2489827"/>
            <a:ext cx="348089" cy="34808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EED50289-FF3F-77EC-DD51-6359FDB353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224" y="2772550"/>
            <a:ext cx="348089" cy="348089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AC5DC0F7-0B88-23BD-A233-BA7293C69C06}"/>
              </a:ext>
            </a:extLst>
          </p:cNvPr>
          <p:cNvGrpSpPr/>
          <p:nvPr/>
        </p:nvGrpSpPr>
        <p:grpSpPr>
          <a:xfrm>
            <a:off x="6290679" y="3009435"/>
            <a:ext cx="795706" cy="237794"/>
            <a:chOff x="6137028" y="3120639"/>
            <a:chExt cx="1045658" cy="355782"/>
          </a:xfrm>
        </p:grpSpPr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B9BAD4B7-D830-1685-3F31-146D53CFAF7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37028" y="3120639"/>
              <a:ext cx="348089" cy="348089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4A6CBA03-11A0-2C71-F9A2-6A9FA21C09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85117" y="3120639"/>
              <a:ext cx="348089" cy="348089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30E184B9-9F27-78FD-0DCA-210B5629482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834597" y="3128332"/>
              <a:ext cx="348089" cy="348089"/>
            </a:xfrm>
            <a:prstGeom prst="rect">
              <a:avLst/>
            </a:prstGeom>
          </p:spPr>
        </p:pic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D041944E-38B8-D038-172E-728276F99900}"/>
              </a:ext>
            </a:extLst>
          </p:cNvPr>
          <p:cNvSpPr txBox="1"/>
          <p:nvPr/>
        </p:nvSpPr>
        <p:spPr>
          <a:xfrm>
            <a:off x="1828122" y="4278258"/>
            <a:ext cx="55576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La cucina d'avanguardia presenta topologia "Small-World " </a:t>
            </a:r>
          </a:p>
          <a:p>
            <a:pPr algn="ctr"/>
            <a:r>
              <a:rPr lang="it-IT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più marcata rispetto alla cucina tradizionale</a:t>
            </a:r>
            <a:endParaRPr lang="en-US" dirty="0">
              <a:solidFill>
                <a:schemeClr val="tx1"/>
              </a:solidFill>
              <a:latin typeface="Baloo 2" panose="020B0604020202020204" charset="0"/>
              <a:cs typeface="Baloo 2" panose="020B060402020202020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C6AB129-DC7B-8C27-A579-A58784147AF6}"/>
              </a:ext>
            </a:extLst>
          </p:cNvPr>
          <p:cNvSpPr txBox="1"/>
          <p:nvPr/>
        </p:nvSpPr>
        <p:spPr>
          <a:xfrm>
            <a:off x="2138212" y="4043255"/>
            <a:ext cx="48560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1"/>
                </a:solidFill>
                <a:latin typeface="Baloo 2" panose="020B0604020202020204" charset="0"/>
                <a:cs typeface="Baloo 2" panose="020B0604020202020204" charset="0"/>
              </a:rPr>
              <a:t>IPOTESI: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57B1634A-7D97-1E59-A07D-F5D67AEFE1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4431" y="4283678"/>
            <a:ext cx="445025" cy="445025"/>
          </a:xfrm>
          <a:prstGeom prst="rect">
            <a:avLst/>
          </a:prstGeom>
        </p:spPr>
      </p:pic>
      <p:pic>
        <p:nvPicPr>
          <p:cNvPr id="2" name="Google Shape;410;p37">
            <a:extLst>
              <a:ext uri="{FF2B5EF4-FFF2-40B4-BE49-F238E27FC236}">
                <a16:creationId xmlns:a16="http://schemas.microsoft.com/office/drawing/2014/main" id="{72C15D6C-049C-AB6C-907F-2C4D0AB10562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t="49657"/>
          <a:stretch/>
        </p:blipFill>
        <p:spPr>
          <a:xfrm>
            <a:off x="683542" y="406649"/>
            <a:ext cx="1114616" cy="741098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15;p37">
            <a:extLst>
              <a:ext uri="{FF2B5EF4-FFF2-40B4-BE49-F238E27FC236}">
                <a16:creationId xmlns:a16="http://schemas.microsoft.com/office/drawing/2014/main" id="{9AB770E7-0F01-DE5B-A369-945A7B3982D2}"/>
              </a:ext>
            </a:extLst>
          </p:cNvPr>
          <p:cNvSpPr txBox="1">
            <a:spLocks/>
          </p:cNvSpPr>
          <p:nvPr/>
        </p:nvSpPr>
        <p:spPr>
          <a:xfrm>
            <a:off x="873500" y="596606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2800" dirty="0">
                <a:solidFill>
                  <a:schemeClr val="bg2"/>
                </a:solidFill>
                <a:latin typeface="Averia Serif Libre" panose="020B0604020202020204" charset="0"/>
              </a:rPr>
              <a:t>01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4.07407E-6 L -0.26111 -0.00093 " pathEditMode="relative" rAng="0" ptsTypes="AA">
                                      <p:cBhvr>
                                        <p:cTn id="6" dur="1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056" y="-62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" dur="1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4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Approccio</a:t>
            </a:r>
            <a:r>
              <a:rPr lang="en-US" dirty="0"/>
              <a:t> </a:t>
            </a:r>
            <a:r>
              <a:rPr lang="en-US" dirty="0" err="1">
                <a:solidFill>
                  <a:schemeClr val="accent3"/>
                </a:solidFill>
              </a:rPr>
              <a:t>MultiLivello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496" name="Google Shape;496;p44"/>
          <p:cNvSpPr txBox="1">
            <a:spLocks noGrp="1"/>
          </p:cNvSpPr>
          <p:nvPr>
            <p:ph type="subTitle" idx="1"/>
          </p:nvPr>
        </p:nvSpPr>
        <p:spPr>
          <a:xfrm>
            <a:off x="937625" y="2562986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Reti di </a:t>
            </a:r>
            <a:r>
              <a:rPr lang="en-US" dirty="0" err="1"/>
              <a:t>ricette</a:t>
            </a:r>
            <a:endParaRPr lang="en-US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Bootstrap (n=100)</a:t>
            </a:r>
          </a:p>
          <a:p>
            <a:pPr marL="285750" lvl="0" indent="-285750" algn="l">
              <a:buFontTx/>
              <a:buChar char="-"/>
            </a:pPr>
            <a:r>
              <a:rPr lang="en-US" dirty="0"/>
              <a:t>Clustering, </a:t>
            </a:r>
            <a:r>
              <a:rPr lang="el-GR" dirty="0"/>
              <a:t>σ</a:t>
            </a:r>
            <a:endParaRPr lang="en-US" dirty="0"/>
          </a:p>
          <a:p>
            <a:pPr marL="285750" lvl="0" indent="-285750" algn="l">
              <a:buFontTx/>
              <a:buChar char="-"/>
            </a:pPr>
            <a:r>
              <a:rPr lang="en-US" dirty="0" err="1"/>
              <a:t>Modularità</a:t>
            </a:r>
            <a:r>
              <a:rPr lang="en-US" dirty="0"/>
              <a:t> (Q)</a:t>
            </a:r>
          </a:p>
        </p:txBody>
      </p:sp>
      <p:sp>
        <p:nvSpPr>
          <p:cNvPr id="497" name="Google Shape;497;p44"/>
          <p:cNvSpPr txBox="1">
            <a:spLocks noGrp="1"/>
          </p:cNvSpPr>
          <p:nvPr>
            <p:ph type="subTitle" idx="2"/>
          </p:nvPr>
        </p:nvSpPr>
        <p:spPr>
          <a:xfrm>
            <a:off x="3484350" y="2562986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Flavor Network</a:t>
            </a:r>
          </a:p>
          <a:p>
            <a:pPr marL="285750" lvl="0" indent="-285750" algn="l">
              <a:buFontTx/>
              <a:buChar char="-"/>
            </a:pPr>
            <a:r>
              <a:rPr lang="en-US" dirty="0"/>
              <a:t>Ahn et al. 2011</a:t>
            </a:r>
          </a:p>
          <a:p>
            <a:pPr marL="285750" lvl="0" indent="-285750" algn="l">
              <a:buFontTx/>
              <a:buChar char="-"/>
            </a:pPr>
            <a:r>
              <a:rPr lang="en-US" dirty="0"/>
              <a:t>1531 ingredient</a:t>
            </a:r>
          </a:p>
          <a:p>
            <a:pPr marL="285750" lvl="0" indent="-285750" algn="l">
              <a:buFontTx/>
              <a:buChar char="-"/>
            </a:pPr>
            <a:r>
              <a:rPr lang="en-US" dirty="0" err="1"/>
              <a:t>Composti</a:t>
            </a:r>
            <a:r>
              <a:rPr lang="en-US" dirty="0"/>
              <a:t> </a:t>
            </a:r>
            <a:r>
              <a:rPr lang="en-US" dirty="0" err="1"/>
              <a:t>Condivisi</a:t>
            </a:r>
            <a:endParaRPr dirty="0"/>
          </a:p>
        </p:txBody>
      </p:sp>
      <p:sp>
        <p:nvSpPr>
          <p:cNvPr id="498" name="Google Shape;498;p44"/>
          <p:cNvSpPr txBox="1">
            <a:spLocks noGrp="1"/>
          </p:cNvSpPr>
          <p:nvPr>
            <p:ph type="subTitle" idx="3"/>
          </p:nvPr>
        </p:nvSpPr>
        <p:spPr>
          <a:xfrm>
            <a:off x="6031075" y="2562986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Bridge Discovery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/>
              <a:t>Dual Algorithm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dirty="0" err="1"/>
              <a:t>Beetweenness</a:t>
            </a:r>
            <a:r>
              <a:rPr lang="en-US" dirty="0"/>
              <a:t> vs Optimal Path</a:t>
            </a:r>
            <a:endParaRPr dirty="0"/>
          </a:p>
        </p:txBody>
      </p:sp>
      <p:sp>
        <p:nvSpPr>
          <p:cNvPr id="499" name="Google Shape;499;p44"/>
          <p:cNvSpPr txBox="1">
            <a:spLocks noGrp="1"/>
          </p:cNvSpPr>
          <p:nvPr>
            <p:ph type="subTitle" idx="4"/>
          </p:nvPr>
        </p:nvSpPr>
        <p:spPr>
          <a:xfrm>
            <a:off x="937625" y="2082383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4"/>
                </a:solidFill>
              </a:rPr>
              <a:t>Topologica</a:t>
            </a:r>
            <a:endParaRPr dirty="0">
              <a:solidFill>
                <a:schemeClr val="accent4"/>
              </a:solidFill>
            </a:endParaRPr>
          </a:p>
        </p:txBody>
      </p:sp>
      <p:sp>
        <p:nvSpPr>
          <p:cNvPr id="500" name="Google Shape;500;p44"/>
          <p:cNvSpPr txBox="1">
            <a:spLocks noGrp="1"/>
          </p:cNvSpPr>
          <p:nvPr>
            <p:ph type="subTitle" idx="5"/>
          </p:nvPr>
        </p:nvSpPr>
        <p:spPr>
          <a:xfrm>
            <a:off x="3484350" y="2082383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4"/>
                </a:solidFill>
              </a:rPr>
              <a:t>Chimica</a:t>
            </a:r>
            <a:endParaRPr dirty="0">
              <a:solidFill>
                <a:schemeClr val="accent4"/>
              </a:solidFill>
            </a:endParaRPr>
          </a:p>
        </p:txBody>
      </p:sp>
      <p:sp>
        <p:nvSpPr>
          <p:cNvPr id="501" name="Google Shape;501;p44"/>
          <p:cNvSpPr txBox="1">
            <a:spLocks noGrp="1"/>
          </p:cNvSpPr>
          <p:nvPr>
            <p:ph type="subTitle" idx="6"/>
          </p:nvPr>
        </p:nvSpPr>
        <p:spPr>
          <a:xfrm>
            <a:off x="6031075" y="2082383"/>
            <a:ext cx="21753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4"/>
                </a:solidFill>
              </a:rPr>
              <a:t>Interattiva</a:t>
            </a:r>
            <a:endParaRPr dirty="0">
              <a:solidFill>
                <a:schemeClr val="accent4"/>
              </a:solidFill>
            </a:endParaRPr>
          </a:p>
        </p:txBody>
      </p:sp>
      <p:sp>
        <p:nvSpPr>
          <p:cNvPr id="502" name="Google Shape;502;p44"/>
          <p:cNvSpPr/>
          <p:nvPr/>
        </p:nvSpPr>
        <p:spPr>
          <a:xfrm>
            <a:off x="1700675" y="1433086"/>
            <a:ext cx="649200" cy="649200"/>
          </a:xfrm>
          <a:prstGeom prst="ellips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3" name="Google Shape;503;p44"/>
          <p:cNvSpPr/>
          <p:nvPr/>
        </p:nvSpPr>
        <p:spPr>
          <a:xfrm>
            <a:off x="4247400" y="1414986"/>
            <a:ext cx="649200" cy="649200"/>
          </a:xfrm>
          <a:prstGeom prst="ellips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4" name="Google Shape;504;p44"/>
          <p:cNvSpPr/>
          <p:nvPr/>
        </p:nvSpPr>
        <p:spPr>
          <a:xfrm>
            <a:off x="6794125" y="1414986"/>
            <a:ext cx="649200" cy="649200"/>
          </a:xfrm>
          <a:prstGeom prst="ellips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496;p44">
            <a:extLst>
              <a:ext uri="{FF2B5EF4-FFF2-40B4-BE49-F238E27FC236}">
                <a16:creationId xmlns:a16="http://schemas.microsoft.com/office/drawing/2014/main" id="{CC5B1B26-266C-D4D5-78F7-55FB7D0DFF1E}"/>
              </a:ext>
            </a:extLst>
          </p:cNvPr>
          <p:cNvSpPr txBox="1">
            <a:spLocks/>
          </p:cNvSpPr>
          <p:nvPr/>
        </p:nvSpPr>
        <p:spPr>
          <a:xfrm>
            <a:off x="3204449" y="4167774"/>
            <a:ext cx="2735101" cy="8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None/>
              <a:defRPr sz="14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None/>
              <a:defRPr sz="14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None/>
              <a:defRPr sz="14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None/>
              <a:defRPr sz="14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None/>
              <a:defRPr sz="14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None/>
              <a:defRPr sz="14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None/>
              <a:defRPr sz="14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None/>
              <a:defRPr sz="14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Baloo 2"/>
              <a:buNone/>
              <a:defRPr sz="14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9pPr>
          </a:lstStyle>
          <a:p>
            <a:pPr marL="0" indent="0" algn="l"/>
            <a:r>
              <a:rPr lang="en-US" dirty="0" err="1"/>
              <a:t>Validazione</a:t>
            </a:r>
            <a:r>
              <a:rPr lang="en-US" dirty="0"/>
              <a:t> </a:t>
            </a:r>
            <a:r>
              <a:rPr lang="en-US" dirty="0" err="1"/>
              <a:t>reciproca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risultati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70253E-C93E-8482-2A20-93B9A8306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1107" y="1553518"/>
            <a:ext cx="408335" cy="40833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7A42C3-89CC-BA28-8FD6-6090108650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6260" y="1533846"/>
            <a:ext cx="411480" cy="4114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77CB5D7-484D-EBB7-8027-0878859B6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1413" y="1533846"/>
            <a:ext cx="411480" cy="41148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88174C8-5F87-77F2-0F80-6F6791323B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5429" y="3816900"/>
            <a:ext cx="457200" cy="457200"/>
          </a:xfrm>
          <a:prstGeom prst="rect">
            <a:avLst/>
          </a:prstGeom>
        </p:spPr>
      </p:pic>
      <p:pic>
        <p:nvPicPr>
          <p:cNvPr id="3" name="Google Shape;410;p37">
            <a:extLst>
              <a:ext uri="{FF2B5EF4-FFF2-40B4-BE49-F238E27FC236}">
                <a16:creationId xmlns:a16="http://schemas.microsoft.com/office/drawing/2014/main" id="{EF778B7D-2BCE-9A4C-C90C-1BE0999BA18F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t="49657"/>
          <a:stretch/>
        </p:blipFill>
        <p:spPr>
          <a:xfrm>
            <a:off x="683542" y="406649"/>
            <a:ext cx="1114616" cy="74109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415;p37">
            <a:extLst>
              <a:ext uri="{FF2B5EF4-FFF2-40B4-BE49-F238E27FC236}">
                <a16:creationId xmlns:a16="http://schemas.microsoft.com/office/drawing/2014/main" id="{9447CFF4-3D24-51BD-12A7-D77CC7475CF7}"/>
              </a:ext>
            </a:extLst>
          </p:cNvPr>
          <p:cNvSpPr txBox="1">
            <a:spLocks/>
          </p:cNvSpPr>
          <p:nvPr/>
        </p:nvSpPr>
        <p:spPr>
          <a:xfrm>
            <a:off x="873500" y="596606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2800" dirty="0">
                <a:solidFill>
                  <a:schemeClr val="bg2"/>
                </a:solidFill>
                <a:latin typeface="Averia Serif Libre" panose="020B0604020202020204" charset="0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p6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Dataset</a:t>
            </a:r>
            <a:r>
              <a:rPr lang="en-US" dirty="0"/>
              <a:t> e </a:t>
            </a:r>
            <a:r>
              <a:rPr lang="en-US" dirty="0">
                <a:solidFill>
                  <a:schemeClr val="accent3"/>
                </a:solidFill>
              </a:rPr>
              <a:t>Bias</a:t>
            </a:r>
            <a:r>
              <a:rPr lang="en-US" dirty="0"/>
              <a:t> </a:t>
            </a:r>
            <a:r>
              <a:rPr lang="en-US" dirty="0" err="1"/>
              <a:t>Dimensionale</a:t>
            </a:r>
            <a:endParaRPr dirty="0"/>
          </a:p>
        </p:txBody>
      </p:sp>
      <p:sp>
        <p:nvSpPr>
          <p:cNvPr id="944" name="Google Shape;944;p61"/>
          <p:cNvSpPr txBox="1"/>
          <p:nvPr/>
        </p:nvSpPr>
        <p:spPr>
          <a:xfrm>
            <a:off x="1777625" y="1912024"/>
            <a:ext cx="1617215" cy="40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tx1"/>
                </a:solidFill>
                <a:latin typeface="Baloo 2" panose="020B0604020202020204" charset="0"/>
                <a:ea typeface="Averia Serif Libre"/>
                <a:cs typeface="Baloo 2" panose="020B0604020202020204" charset="0"/>
                <a:sym typeface="Averia Serif Libre"/>
              </a:rPr>
              <a:t>315</a:t>
            </a:r>
            <a:r>
              <a:rPr lang="en" sz="1600" dirty="0">
                <a:solidFill>
                  <a:schemeClr val="tx1"/>
                </a:solidFill>
                <a:latin typeface="Baloo 2" panose="020B0604020202020204" charset="0"/>
                <a:ea typeface="Averia Serif Libre"/>
                <a:cs typeface="Baloo 2" panose="020B0604020202020204" charset="0"/>
                <a:sym typeface="Averia Serif Libre"/>
              </a:rPr>
              <a:t> ingredienti</a:t>
            </a:r>
            <a:endParaRPr sz="1600" dirty="0">
              <a:solidFill>
                <a:schemeClr val="tx1"/>
              </a:solidFill>
              <a:latin typeface="Baloo 2" panose="020B0604020202020204" charset="0"/>
              <a:ea typeface="Averia Serif Libre"/>
              <a:cs typeface="Baloo 2" panose="020B0604020202020204" charset="0"/>
              <a:sym typeface="Averia Serif Libre"/>
            </a:endParaRPr>
          </a:p>
        </p:txBody>
      </p:sp>
      <p:sp>
        <p:nvSpPr>
          <p:cNvPr id="946" name="Google Shape;946;p61"/>
          <p:cNvSpPr txBox="1"/>
          <p:nvPr/>
        </p:nvSpPr>
        <p:spPr>
          <a:xfrm>
            <a:off x="1777625" y="2676602"/>
            <a:ext cx="1844447" cy="40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tx1"/>
                </a:solidFill>
                <a:latin typeface="Baloo 2" panose="020B0604020202020204" charset="0"/>
                <a:ea typeface="Averia Serif Libre"/>
                <a:cs typeface="Baloo 2" panose="020B0604020202020204" charset="0"/>
                <a:sym typeface="Averia Serif Libre"/>
              </a:rPr>
              <a:t>36</a:t>
            </a:r>
            <a:r>
              <a:rPr lang="en" sz="1600" dirty="0">
                <a:solidFill>
                  <a:schemeClr val="tx1"/>
                </a:solidFill>
                <a:latin typeface="Baloo 2" panose="020B0604020202020204" charset="0"/>
                <a:ea typeface="Averia Serif Libre"/>
                <a:cs typeface="Baloo 2" panose="020B0604020202020204" charset="0"/>
                <a:sym typeface="Averia Serif Libre"/>
              </a:rPr>
              <a:t> </a:t>
            </a:r>
            <a:r>
              <a:rPr lang="en" sz="1600" b="1" dirty="0">
                <a:solidFill>
                  <a:schemeClr val="tx1"/>
                </a:solidFill>
                <a:latin typeface="Baloo 2" panose="020B0604020202020204" charset="0"/>
                <a:ea typeface="Averia Serif Libre"/>
                <a:cs typeface="Baloo 2" panose="020B0604020202020204" charset="0"/>
                <a:sym typeface="Averia Serif Libre"/>
              </a:rPr>
              <a:t>291</a:t>
            </a:r>
            <a:r>
              <a:rPr lang="en" sz="1600" dirty="0">
                <a:solidFill>
                  <a:schemeClr val="tx1"/>
                </a:solidFill>
                <a:latin typeface="Baloo 2" panose="020B0604020202020204" charset="0"/>
                <a:ea typeface="Averia Serif Libre"/>
                <a:cs typeface="Baloo 2" panose="020B0604020202020204" charset="0"/>
                <a:sym typeface="Averia Serif Libre"/>
              </a:rPr>
              <a:t> connessioni</a:t>
            </a:r>
            <a:endParaRPr sz="1600" dirty="0">
              <a:solidFill>
                <a:schemeClr val="tx1"/>
              </a:solidFill>
              <a:latin typeface="Baloo 2" panose="020B0604020202020204" charset="0"/>
              <a:ea typeface="Averia Serif Libre"/>
              <a:cs typeface="Baloo 2" panose="020B0604020202020204" charset="0"/>
              <a:sym typeface="Averia Serif Libre"/>
            </a:endParaRPr>
          </a:p>
        </p:txBody>
      </p:sp>
      <p:sp>
        <p:nvSpPr>
          <p:cNvPr id="948" name="Google Shape;948;p61"/>
          <p:cNvSpPr txBox="1"/>
          <p:nvPr/>
        </p:nvSpPr>
        <p:spPr>
          <a:xfrm>
            <a:off x="1777625" y="3507450"/>
            <a:ext cx="2328159" cy="40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tx1"/>
                </a:solidFill>
                <a:latin typeface="Baloo 2" panose="020B0604020202020204" charset="0"/>
                <a:ea typeface="Averia Serif Libre"/>
                <a:cs typeface="Baloo 2" panose="020B0604020202020204" charset="0"/>
                <a:sym typeface="Averia Serif Libre"/>
              </a:rPr>
              <a:t>Fonte: Ricette classiche</a:t>
            </a:r>
            <a:endParaRPr sz="1600" dirty="0">
              <a:solidFill>
                <a:schemeClr val="tx1"/>
              </a:solidFill>
              <a:latin typeface="Baloo 2" panose="020B0604020202020204" charset="0"/>
              <a:ea typeface="Averia Serif Libre"/>
              <a:cs typeface="Baloo 2" panose="020B0604020202020204" charset="0"/>
              <a:sym typeface="Averia Serif Libre"/>
            </a:endParaRPr>
          </a:p>
        </p:txBody>
      </p:sp>
      <p:cxnSp>
        <p:nvCxnSpPr>
          <p:cNvPr id="953" name="Google Shape;953;p61"/>
          <p:cNvCxnSpPr>
            <a:cxnSpLocks/>
            <a:endCxn id="946" idx="1"/>
          </p:cNvCxnSpPr>
          <p:nvPr/>
        </p:nvCxnSpPr>
        <p:spPr>
          <a:xfrm rot="16200000" flipH="1">
            <a:off x="1107816" y="2208993"/>
            <a:ext cx="781190" cy="558428"/>
          </a:xfrm>
          <a:prstGeom prst="bent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954" name="Google Shape;954;p61"/>
          <p:cNvCxnSpPr>
            <a:cxnSpLocks/>
            <a:endCxn id="948" idx="1"/>
          </p:cNvCxnSpPr>
          <p:nvPr/>
        </p:nvCxnSpPr>
        <p:spPr>
          <a:xfrm rot="16200000" flipH="1">
            <a:off x="692393" y="2624418"/>
            <a:ext cx="1612038" cy="558426"/>
          </a:xfrm>
          <a:prstGeom prst="bent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oval" w="med" len="med"/>
          </a:ln>
        </p:spPr>
      </p:cxnSp>
      <p:pic>
        <p:nvPicPr>
          <p:cNvPr id="957" name="Google Shape;95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751367">
            <a:off x="7856426" y="4018205"/>
            <a:ext cx="1148699" cy="10644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" name="Google Shape;953;p61">
            <a:extLst>
              <a:ext uri="{FF2B5EF4-FFF2-40B4-BE49-F238E27FC236}">
                <a16:creationId xmlns:a16="http://schemas.microsoft.com/office/drawing/2014/main" id="{AE63A602-E971-F9CA-EFE9-EFB1B22B2050}"/>
              </a:ext>
            </a:extLst>
          </p:cNvPr>
          <p:cNvCxnSpPr>
            <a:cxnSpLocks/>
          </p:cNvCxnSpPr>
          <p:nvPr/>
        </p:nvCxnSpPr>
        <p:spPr>
          <a:xfrm flipV="1">
            <a:off x="1219198" y="2105919"/>
            <a:ext cx="558190" cy="2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2" name="Google Shape;944;p61">
            <a:extLst>
              <a:ext uri="{FF2B5EF4-FFF2-40B4-BE49-F238E27FC236}">
                <a16:creationId xmlns:a16="http://schemas.microsoft.com/office/drawing/2014/main" id="{493A7BFD-FAF0-2926-0B7D-3B3B59A8F119}"/>
              </a:ext>
            </a:extLst>
          </p:cNvPr>
          <p:cNvSpPr txBox="1"/>
          <p:nvPr/>
        </p:nvSpPr>
        <p:spPr>
          <a:xfrm>
            <a:off x="5849445" y="1938489"/>
            <a:ext cx="1444728" cy="40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tx1"/>
                </a:solidFill>
                <a:latin typeface="Baloo 2" panose="020B0604020202020204" charset="0"/>
                <a:ea typeface="Averia Serif Libre"/>
                <a:cs typeface="Baloo 2" panose="020B0604020202020204" charset="0"/>
                <a:sym typeface="Averia Serif Libre"/>
              </a:rPr>
              <a:t>57</a:t>
            </a:r>
            <a:r>
              <a:rPr lang="en" sz="1600" dirty="0">
                <a:solidFill>
                  <a:schemeClr val="tx1"/>
                </a:solidFill>
                <a:latin typeface="Baloo 2" panose="020B0604020202020204" charset="0"/>
                <a:ea typeface="Averia Serif Libre"/>
                <a:cs typeface="Baloo 2" panose="020B0604020202020204" charset="0"/>
                <a:sym typeface="Averia Serif Libre"/>
              </a:rPr>
              <a:t> ingredienti</a:t>
            </a:r>
            <a:endParaRPr sz="1600" dirty="0">
              <a:solidFill>
                <a:schemeClr val="tx1"/>
              </a:solidFill>
              <a:latin typeface="Baloo 2" panose="020B0604020202020204" charset="0"/>
              <a:ea typeface="Averia Serif Libre"/>
              <a:cs typeface="Baloo 2" panose="020B0604020202020204" charset="0"/>
              <a:sym typeface="Averia Serif Libre"/>
            </a:endParaRPr>
          </a:p>
        </p:txBody>
      </p:sp>
      <p:sp>
        <p:nvSpPr>
          <p:cNvPr id="13" name="Google Shape;946;p61">
            <a:extLst>
              <a:ext uri="{FF2B5EF4-FFF2-40B4-BE49-F238E27FC236}">
                <a16:creationId xmlns:a16="http://schemas.microsoft.com/office/drawing/2014/main" id="{053630E4-A0CA-655C-C304-C6FD38AA9536}"/>
              </a:ext>
            </a:extLst>
          </p:cNvPr>
          <p:cNvSpPr txBox="1"/>
          <p:nvPr/>
        </p:nvSpPr>
        <p:spPr>
          <a:xfrm>
            <a:off x="5849683" y="2684909"/>
            <a:ext cx="1633677" cy="40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tx1"/>
                </a:solidFill>
                <a:latin typeface="Baloo 2" panose="020B0604020202020204" charset="0"/>
                <a:ea typeface="Averia Serif Libre"/>
                <a:cs typeface="Baloo 2" panose="020B0604020202020204" charset="0"/>
                <a:sym typeface="Averia Serif Libre"/>
              </a:rPr>
              <a:t>642</a:t>
            </a:r>
            <a:r>
              <a:rPr lang="en" sz="1600" dirty="0">
                <a:solidFill>
                  <a:schemeClr val="tx1"/>
                </a:solidFill>
                <a:latin typeface="Baloo 2" panose="020B0604020202020204" charset="0"/>
                <a:ea typeface="Averia Serif Libre"/>
                <a:cs typeface="Baloo 2" panose="020B0604020202020204" charset="0"/>
                <a:sym typeface="Averia Serif Libre"/>
              </a:rPr>
              <a:t> connessioni</a:t>
            </a:r>
            <a:endParaRPr sz="1600" dirty="0">
              <a:solidFill>
                <a:schemeClr val="tx1"/>
              </a:solidFill>
              <a:latin typeface="Baloo 2" panose="020B0604020202020204" charset="0"/>
              <a:ea typeface="Averia Serif Libre"/>
              <a:cs typeface="Baloo 2" panose="020B0604020202020204" charset="0"/>
              <a:sym typeface="Averia Serif Libre"/>
            </a:endParaRPr>
          </a:p>
        </p:txBody>
      </p:sp>
      <p:sp>
        <p:nvSpPr>
          <p:cNvPr id="14" name="Google Shape;948;p61">
            <a:extLst>
              <a:ext uri="{FF2B5EF4-FFF2-40B4-BE49-F238E27FC236}">
                <a16:creationId xmlns:a16="http://schemas.microsoft.com/office/drawing/2014/main" id="{89A47E75-4BA9-696A-9152-BC22BFC32476}"/>
              </a:ext>
            </a:extLst>
          </p:cNvPr>
          <p:cNvSpPr txBox="1"/>
          <p:nvPr/>
        </p:nvSpPr>
        <p:spPr>
          <a:xfrm>
            <a:off x="5849683" y="3515757"/>
            <a:ext cx="2611139" cy="40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tx1"/>
                </a:solidFill>
                <a:latin typeface="Baloo 2" panose="020B0604020202020204" charset="0"/>
                <a:ea typeface="Averia Serif Libre"/>
                <a:cs typeface="Baloo 2" panose="020B0604020202020204" charset="0"/>
                <a:sym typeface="Averia Serif Libre"/>
              </a:rPr>
              <a:t>Fonte: el Celler de Can Roca</a:t>
            </a:r>
            <a:endParaRPr sz="1600" dirty="0">
              <a:solidFill>
                <a:schemeClr val="tx1"/>
              </a:solidFill>
              <a:latin typeface="Baloo 2" panose="020B0604020202020204" charset="0"/>
              <a:ea typeface="Averia Serif Libre"/>
              <a:cs typeface="Baloo 2" panose="020B0604020202020204" charset="0"/>
              <a:sym typeface="Averia Serif Libre"/>
            </a:endParaRPr>
          </a:p>
        </p:txBody>
      </p:sp>
      <p:cxnSp>
        <p:nvCxnSpPr>
          <p:cNvPr id="15" name="Google Shape;953;p61">
            <a:extLst>
              <a:ext uri="{FF2B5EF4-FFF2-40B4-BE49-F238E27FC236}">
                <a16:creationId xmlns:a16="http://schemas.microsoft.com/office/drawing/2014/main" id="{7CA4A0AF-7A81-33E1-5F73-327F0BD3CC47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179874" y="2217300"/>
            <a:ext cx="781190" cy="558428"/>
          </a:xfrm>
          <a:prstGeom prst="bent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6" name="Google Shape;954;p61">
            <a:extLst>
              <a:ext uri="{FF2B5EF4-FFF2-40B4-BE49-F238E27FC236}">
                <a16:creationId xmlns:a16="http://schemas.microsoft.com/office/drawing/2014/main" id="{AE3AED9A-11CB-FD68-04FC-DBEC8C862438}"/>
              </a:ext>
            </a:extLst>
          </p:cNvPr>
          <p:cNvCxnSpPr>
            <a:cxnSpLocks/>
            <a:endCxn id="14" idx="1"/>
          </p:cNvCxnSpPr>
          <p:nvPr/>
        </p:nvCxnSpPr>
        <p:spPr>
          <a:xfrm rot="16200000" flipH="1">
            <a:off x="4764451" y="2632725"/>
            <a:ext cx="1612038" cy="558426"/>
          </a:xfrm>
          <a:prstGeom prst="bentConnector2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7" name="Google Shape;953;p61">
            <a:extLst>
              <a:ext uri="{FF2B5EF4-FFF2-40B4-BE49-F238E27FC236}">
                <a16:creationId xmlns:a16="http://schemas.microsoft.com/office/drawing/2014/main" id="{B7C2C187-B5D1-9A61-A97D-FC177B64278D}"/>
              </a:ext>
            </a:extLst>
          </p:cNvPr>
          <p:cNvCxnSpPr>
            <a:cxnSpLocks/>
          </p:cNvCxnSpPr>
          <p:nvPr/>
        </p:nvCxnSpPr>
        <p:spPr>
          <a:xfrm flipV="1">
            <a:off x="5291255" y="2121057"/>
            <a:ext cx="558190" cy="2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8" name="Google Shape;404;p37">
            <a:extLst>
              <a:ext uri="{FF2B5EF4-FFF2-40B4-BE49-F238E27FC236}">
                <a16:creationId xmlns:a16="http://schemas.microsoft.com/office/drawing/2014/main" id="{073451E0-C85F-AB7C-721D-784186691ECC}"/>
              </a:ext>
            </a:extLst>
          </p:cNvPr>
          <p:cNvSpPr txBox="1">
            <a:spLocks/>
          </p:cNvSpPr>
          <p:nvPr/>
        </p:nvSpPr>
        <p:spPr>
          <a:xfrm>
            <a:off x="955761" y="1550633"/>
            <a:ext cx="2723243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800" dirty="0">
                <a:solidFill>
                  <a:schemeClr val="accent4"/>
                </a:solidFill>
                <a:latin typeface="Averia Serif Libre" panose="020B0604020202020204" charset="0"/>
                <a:cs typeface="Baloo 2" panose="020B0604020202020204" charset="0"/>
              </a:rPr>
              <a:t>RETE TRADIZIONALE</a:t>
            </a:r>
          </a:p>
        </p:txBody>
      </p:sp>
      <p:sp>
        <p:nvSpPr>
          <p:cNvPr id="19" name="Google Shape;404;p37">
            <a:extLst>
              <a:ext uri="{FF2B5EF4-FFF2-40B4-BE49-F238E27FC236}">
                <a16:creationId xmlns:a16="http://schemas.microsoft.com/office/drawing/2014/main" id="{C0822FC6-21F1-A63D-A323-926375AA96F5}"/>
              </a:ext>
            </a:extLst>
          </p:cNvPr>
          <p:cNvSpPr txBox="1">
            <a:spLocks/>
          </p:cNvSpPr>
          <p:nvPr/>
        </p:nvSpPr>
        <p:spPr>
          <a:xfrm>
            <a:off x="5393569" y="1550633"/>
            <a:ext cx="3043436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800" dirty="0">
                <a:solidFill>
                  <a:schemeClr val="accent4"/>
                </a:solidFill>
                <a:latin typeface="Averia Serif Libre" panose="020B0604020202020204" charset="0"/>
                <a:cs typeface="Baloo 2" panose="020B0604020202020204" charset="0"/>
              </a:rPr>
              <a:t>RETE ROCA (</a:t>
            </a:r>
            <a:r>
              <a:rPr lang="en-US" sz="1800" dirty="0" err="1">
                <a:solidFill>
                  <a:schemeClr val="accent4"/>
                </a:solidFill>
                <a:latin typeface="Averia Serif Libre" panose="020B0604020202020204" charset="0"/>
                <a:cs typeface="Baloo 2" panose="020B0604020202020204" charset="0"/>
              </a:rPr>
              <a:t>Avanguardia</a:t>
            </a:r>
            <a:r>
              <a:rPr lang="en-US" sz="1800" dirty="0">
                <a:solidFill>
                  <a:schemeClr val="accent4"/>
                </a:solidFill>
                <a:latin typeface="Averia Serif Libre" panose="020B0604020202020204" charset="0"/>
                <a:cs typeface="Baloo 2" panose="020B0604020202020204" charset="0"/>
              </a:rPr>
              <a:t>)     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DB28539-0085-C98F-746E-7F3441D38D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1420" y="3369577"/>
            <a:ext cx="1101159" cy="1101159"/>
          </a:xfrm>
          <a:prstGeom prst="rect">
            <a:avLst/>
          </a:prstGeom>
        </p:spPr>
      </p:pic>
      <p:pic>
        <p:nvPicPr>
          <p:cNvPr id="31" name="Google Shape;410;p37">
            <a:extLst>
              <a:ext uri="{FF2B5EF4-FFF2-40B4-BE49-F238E27FC236}">
                <a16:creationId xmlns:a16="http://schemas.microsoft.com/office/drawing/2014/main" id="{5DFCD40F-111B-91C6-4624-333484D7F868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t="49657"/>
          <a:stretch/>
        </p:blipFill>
        <p:spPr>
          <a:xfrm>
            <a:off x="683542" y="406649"/>
            <a:ext cx="1114616" cy="741098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415;p37">
            <a:extLst>
              <a:ext uri="{FF2B5EF4-FFF2-40B4-BE49-F238E27FC236}">
                <a16:creationId xmlns:a16="http://schemas.microsoft.com/office/drawing/2014/main" id="{25EE20B3-86E3-A00A-F68C-A42D21762F00}"/>
              </a:ext>
            </a:extLst>
          </p:cNvPr>
          <p:cNvSpPr txBox="1">
            <a:spLocks/>
          </p:cNvSpPr>
          <p:nvPr/>
        </p:nvSpPr>
        <p:spPr>
          <a:xfrm>
            <a:off x="873500" y="596606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2800" dirty="0">
                <a:solidFill>
                  <a:schemeClr val="bg2"/>
                </a:solidFill>
                <a:latin typeface="Averia Serif Libre" panose="020B0604020202020204" charset="0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>
          <a:extLst>
            <a:ext uri="{FF2B5EF4-FFF2-40B4-BE49-F238E27FC236}">
              <a16:creationId xmlns:a16="http://schemas.microsoft.com/office/drawing/2014/main" id="{7F5A7EDB-A788-A884-F42A-CB5FDDA3E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p61">
            <a:extLst>
              <a:ext uri="{FF2B5EF4-FFF2-40B4-BE49-F238E27FC236}">
                <a16:creationId xmlns:a16="http://schemas.microsoft.com/office/drawing/2014/main" id="{9014E8BB-15C2-5A8E-E7B7-1CF8485190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Dataset</a:t>
            </a:r>
            <a:r>
              <a:rPr lang="en-US" dirty="0"/>
              <a:t> e </a:t>
            </a:r>
            <a:r>
              <a:rPr lang="en-US" dirty="0">
                <a:solidFill>
                  <a:schemeClr val="accent3"/>
                </a:solidFill>
              </a:rPr>
              <a:t>Bias</a:t>
            </a:r>
            <a:r>
              <a:rPr lang="en-US" dirty="0"/>
              <a:t> </a:t>
            </a:r>
            <a:r>
              <a:rPr lang="en-US" dirty="0" err="1"/>
              <a:t>Dimensionale</a:t>
            </a:r>
            <a:endParaRPr dirty="0"/>
          </a:p>
        </p:txBody>
      </p:sp>
      <p:pic>
        <p:nvPicPr>
          <p:cNvPr id="957" name="Google Shape;957;p61">
            <a:extLst>
              <a:ext uri="{FF2B5EF4-FFF2-40B4-BE49-F238E27FC236}">
                <a16:creationId xmlns:a16="http://schemas.microsoft.com/office/drawing/2014/main" id="{E84D84BC-78C3-5E0D-958B-51AA180D050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751367">
            <a:off x="7856426" y="4018205"/>
            <a:ext cx="1148699" cy="1064499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404;p37">
            <a:extLst>
              <a:ext uri="{FF2B5EF4-FFF2-40B4-BE49-F238E27FC236}">
                <a16:creationId xmlns:a16="http://schemas.microsoft.com/office/drawing/2014/main" id="{CD0AFAB2-046D-CED2-30F0-E203D8C569B2}"/>
              </a:ext>
            </a:extLst>
          </p:cNvPr>
          <p:cNvSpPr txBox="1">
            <a:spLocks/>
          </p:cNvSpPr>
          <p:nvPr/>
        </p:nvSpPr>
        <p:spPr>
          <a:xfrm>
            <a:off x="955761" y="1550633"/>
            <a:ext cx="2723243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800" dirty="0">
                <a:solidFill>
                  <a:schemeClr val="accent4"/>
                </a:solidFill>
                <a:latin typeface="Averia Serif Libre" panose="020B0604020202020204" charset="0"/>
                <a:cs typeface="Baloo 2" panose="020B0604020202020204" charset="0"/>
              </a:rPr>
              <a:t>RETE TRADIZIONALE</a:t>
            </a:r>
          </a:p>
        </p:txBody>
      </p:sp>
      <p:sp>
        <p:nvSpPr>
          <p:cNvPr id="19" name="Google Shape;404;p37">
            <a:extLst>
              <a:ext uri="{FF2B5EF4-FFF2-40B4-BE49-F238E27FC236}">
                <a16:creationId xmlns:a16="http://schemas.microsoft.com/office/drawing/2014/main" id="{0A8ED1B5-2EF1-C2B5-76FA-99F3012A2506}"/>
              </a:ext>
            </a:extLst>
          </p:cNvPr>
          <p:cNvSpPr txBox="1">
            <a:spLocks/>
          </p:cNvSpPr>
          <p:nvPr/>
        </p:nvSpPr>
        <p:spPr>
          <a:xfrm>
            <a:off x="5380564" y="1550633"/>
            <a:ext cx="3043436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800" dirty="0">
                <a:solidFill>
                  <a:schemeClr val="accent4"/>
                </a:solidFill>
                <a:latin typeface="Averia Serif Libre" panose="020B0604020202020204" charset="0"/>
                <a:cs typeface="Baloo 2" panose="020B0604020202020204" charset="0"/>
              </a:rPr>
              <a:t>RETE ROCA (</a:t>
            </a:r>
            <a:r>
              <a:rPr lang="en-US" sz="1800" dirty="0" err="1">
                <a:solidFill>
                  <a:schemeClr val="accent4"/>
                </a:solidFill>
                <a:latin typeface="Averia Serif Libre" panose="020B0604020202020204" charset="0"/>
                <a:cs typeface="Baloo 2" panose="020B0604020202020204" charset="0"/>
              </a:rPr>
              <a:t>Avanguardia</a:t>
            </a:r>
            <a:r>
              <a:rPr lang="en-US" sz="1800" dirty="0">
                <a:solidFill>
                  <a:schemeClr val="accent4"/>
                </a:solidFill>
                <a:latin typeface="Averia Serif Libre" panose="020B0604020202020204" charset="0"/>
                <a:cs typeface="Baloo 2" panose="020B0604020202020204" charset="0"/>
              </a:rPr>
              <a:t>)     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09C8C537-5CE5-8B50-649A-60F9BA4625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1420" y="2091962"/>
            <a:ext cx="1101159" cy="11011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BDC9CC4-BB03-A9AD-DA22-E2E009DD80DC}"/>
              </a:ext>
            </a:extLst>
          </p:cNvPr>
          <p:cNvSpPr txBox="1"/>
          <p:nvPr/>
        </p:nvSpPr>
        <p:spPr>
          <a:xfrm>
            <a:off x="2907322" y="3193121"/>
            <a:ext cx="3329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PROBLEMA</a:t>
            </a:r>
            <a:r>
              <a:rPr lang="en-US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: </a:t>
            </a:r>
            <a:r>
              <a:rPr lang="en-US" sz="1800" dirty="0" err="1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Dimensioni</a:t>
            </a:r>
            <a:r>
              <a:rPr lang="en-US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diverse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F3098B-DD0E-47E9-6D46-9586D5D01F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7697" y="2032856"/>
            <a:ext cx="1219370" cy="121937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D85E0B5-17D3-D7D5-B04A-58D5D8E5D8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2597" y="2032856"/>
            <a:ext cx="1219370" cy="1219370"/>
          </a:xfrm>
          <a:prstGeom prst="rect">
            <a:avLst/>
          </a:prstGeom>
        </p:spPr>
      </p:pic>
      <p:pic>
        <p:nvPicPr>
          <p:cNvPr id="3" name="Google Shape;410;p37">
            <a:extLst>
              <a:ext uri="{FF2B5EF4-FFF2-40B4-BE49-F238E27FC236}">
                <a16:creationId xmlns:a16="http://schemas.microsoft.com/office/drawing/2014/main" id="{FEAC8ED7-6315-EEE6-A450-E5F59C99ABF8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t="49657"/>
          <a:stretch/>
        </p:blipFill>
        <p:spPr>
          <a:xfrm>
            <a:off x="683542" y="406649"/>
            <a:ext cx="1114616" cy="74109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415;p37">
            <a:extLst>
              <a:ext uri="{FF2B5EF4-FFF2-40B4-BE49-F238E27FC236}">
                <a16:creationId xmlns:a16="http://schemas.microsoft.com/office/drawing/2014/main" id="{4F263BEF-8666-85D4-4DE5-9CD7D0A2181A}"/>
              </a:ext>
            </a:extLst>
          </p:cNvPr>
          <p:cNvSpPr txBox="1">
            <a:spLocks/>
          </p:cNvSpPr>
          <p:nvPr/>
        </p:nvSpPr>
        <p:spPr>
          <a:xfrm>
            <a:off x="873500" y="596606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2800" dirty="0">
                <a:solidFill>
                  <a:schemeClr val="bg2"/>
                </a:solidFill>
                <a:latin typeface="Averia Serif Libre" panose="020B0604020202020204" charset="0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83059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>
          <a:extLst>
            <a:ext uri="{FF2B5EF4-FFF2-40B4-BE49-F238E27FC236}">
              <a16:creationId xmlns:a16="http://schemas.microsoft.com/office/drawing/2014/main" id="{EE783A7A-CC5C-FFBF-817B-C5D3B8090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p61">
            <a:extLst>
              <a:ext uri="{FF2B5EF4-FFF2-40B4-BE49-F238E27FC236}">
                <a16:creationId xmlns:a16="http://schemas.microsoft.com/office/drawing/2014/main" id="{2BE0A945-E1F5-0D8B-F10D-09545437DF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Dataset</a:t>
            </a:r>
            <a:r>
              <a:rPr lang="en-US" dirty="0"/>
              <a:t> e </a:t>
            </a:r>
            <a:r>
              <a:rPr lang="en-US" dirty="0">
                <a:solidFill>
                  <a:schemeClr val="accent3"/>
                </a:solidFill>
              </a:rPr>
              <a:t>Bias</a:t>
            </a:r>
            <a:r>
              <a:rPr lang="en-US" dirty="0"/>
              <a:t> </a:t>
            </a:r>
            <a:r>
              <a:rPr lang="en-US" dirty="0" err="1"/>
              <a:t>Dimensionale</a:t>
            </a:r>
            <a:endParaRPr dirty="0"/>
          </a:p>
        </p:txBody>
      </p:sp>
      <p:pic>
        <p:nvPicPr>
          <p:cNvPr id="957" name="Google Shape;957;p61">
            <a:extLst>
              <a:ext uri="{FF2B5EF4-FFF2-40B4-BE49-F238E27FC236}">
                <a16:creationId xmlns:a16="http://schemas.microsoft.com/office/drawing/2014/main" id="{36EEF9EC-8B2A-255F-8515-95CB319FC76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751367">
            <a:off x="7856426" y="4018205"/>
            <a:ext cx="1148699" cy="1064499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404;p37">
            <a:extLst>
              <a:ext uri="{FF2B5EF4-FFF2-40B4-BE49-F238E27FC236}">
                <a16:creationId xmlns:a16="http://schemas.microsoft.com/office/drawing/2014/main" id="{F5A17186-59B0-EB90-5F0C-678A5473F5E2}"/>
              </a:ext>
            </a:extLst>
          </p:cNvPr>
          <p:cNvSpPr txBox="1">
            <a:spLocks/>
          </p:cNvSpPr>
          <p:nvPr/>
        </p:nvSpPr>
        <p:spPr>
          <a:xfrm>
            <a:off x="955761" y="1550633"/>
            <a:ext cx="2723243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800" dirty="0">
                <a:solidFill>
                  <a:schemeClr val="accent4"/>
                </a:solidFill>
                <a:latin typeface="Averia Serif Libre" panose="020B0604020202020204" charset="0"/>
                <a:cs typeface="Baloo 2" panose="020B0604020202020204" charset="0"/>
              </a:rPr>
              <a:t>RETE TRADIZIONALE</a:t>
            </a:r>
          </a:p>
        </p:txBody>
      </p:sp>
      <p:sp>
        <p:nvSpPr>
          <p:cNvPr id="19" name="Google Shape;404;p37">
            <a:extLst>
              <a:ext uri="{FF2B5EF4-FFF2-40B4-BE49-F238E27FC236}">
                <a16:creationId xmlns:a16="http://schemas.microsoft.com/office/drawing/2014/main" id="{AEFE811B-F235-ED2F-C5D8-E33D0C21C2BA}"/>
              </a:ext>
            </a:extLst>
          </p:cNvPr>
          <p:cNvSpPr txBox="1">
            <a:spLocks/>
          </p:cNvSpPr>
          <p:nvPr/>
        </p:nvSpPr>
        <p:spPr>
          <a:xfrm>
            <a:off x="5380564" y="1550633"/>
            <a:ext cx="3043436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800" dirty="0">
                <a:solidFill>
                  <a:schemeClr val="accent4"/>
                </a:solidFill>
                <a:latin typeface="Averia Serif Libre" panose="020B0604020202020204" charset="0"/>
                <a:cs typeface="Baloo 2" panose="020B0604020202020204" charset="0"/>
              </a:rPr>
              <a:t>RETE ROCA (</a:t>
            </a:r>
            <a:r>
              <a:rPr lang="en-US" sz="1800" dirty="0" err="1">
                <a:solidFill>
                  <a:schemeClr val="accent4"/>
                </a:solidFill>
                <a:latin typeface="Averia Serif Libre" panose="020B0604020202020204" charset="0"/>
                <a:cs typeface="Baloo 2" panose="020B0604020202020204" charset="0"/>
              </a:rPr>
              <a:t>Avanguardia</a:t>
            </a:r>
            <a:r>
              <a:rPr lang="en-US" sz="1800" dirty="0">
                <a:solidFill>
                  <a:schemeClr val="accent4"/>
                </a:solidFill>
                <a:latin typeface="Averia Serif Libre" panose="020B0604020202020204" charset="0"/>
                <a:cs typeface="Baloo 2" panose="020B0604020202020204" charset="0"/>
              </a:rPr>
              <a:t>)     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D93B1-A0E5-6506-AD65-601935EA7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1420" y="2091962"/>
            <a:ext cx="1101159" cy="11011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44A32DC-CA5D-10DE-3FB9-5BFCE7A78712}"/>
              </a:ext>
            </a:extLst>
          </p:cNvPr>
          <p:cNvSpPr txBox="1"/>
          <p:nvPr/>
        </p:nvSpPr>
        <p:spPr>
          <a:xfrm>
            <a:off x="2907322" y="3193121"/>
            <a:ext cx="3329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PROBLEMA</a:t>
            </a:r>
            <a:r>
              <a:rPr lang="en-US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: </a:t>
            </a:r>
            <a:r>
              <a:rPr lang="en-US" sz="1800" dirty="0" err="1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Dimensioni</a:t>
            </a:r>
            <a:r>
              <a:rPr lang="en-US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diverse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9E54C3-99B8-74CD-066D-7F63F441F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7183" y="2447442"/>
            <a:ext cx="390198" cy="39019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C421D5-6F70-ED02-8B62-E9C702F514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915" y="1945133"/>
            <a:ext cx="2146092" cy="21460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480A510-2B30-C856-D99D-66DB4AF04A56}"/>
              </a:ext>
            </a:extLst>
          </p:cNvPr>
          <p:cNvSpPr txBox="1"/>
          <p:nvPr/>
        </p:nvSpPr>
        <p:spPr>
          <a:xfrm>
            <a:off x="2222748" y="4365788"/>
            <a:ext cx="4698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err="1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Confronto</a:t>
            </a:r>
            <a:r>
              <a:rPr lang="en-US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diretto</a:t>
            </a:r>
            <a:r>
              <a:rPr lang="en-US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statisticamente</a:t>
            </a:r>
            <a:r>
              <a:rPr lang="en-US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</a:t>
            </a:r>
            <a:r>
              <a:rPr lang="en-US" sz="1800" dirty="0" err="1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incorretto</a:t>
            </a:r>
            <a:endParaRPr lang="en-US" sz="1800" dirty="0">
              <a:solidFill>
                <a:schemeClr val="tx1"/>
              </a:solidFill>
              <a:latin typeface="Baloo 2" panose="020B0604020202020204" charset="0"/>
              <a:cs typeface="Baloo 2" panose="020B060402020202020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62BFF-2786-A166-D797-209D1B2E75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7483" y="3636613"/>
            <a:ext cx="884716" cy="884716"/>
          </a:xfrm>
          <a:prstGeom prst="rect">
            <a:avLst/>
          </a:prstGeom>
        </p:spPr>
      </p:pic>
      <p:pic>
        <p:nvPicPr>
          <p:cNvPr id="10" name="Google Shape;410;p37">
            <a:extLst>
              <a:ext uri="{FF2B5EF4-FFF2-40B4-BE49-F238E27FC236}">
                <a16:creationId xmlns:a16="http://schemas.microsoft.com/office/drawing/2014/main" id="{62EDA70C-E521-027C-6EAB-12334111D65B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t="49657"/>
          <a:stretch/>
        </p:blipFill>
        <p:spPr>
          <a:xfrm>
            <a:off x="683542" y="406649"/>
            <a:ext cx="1114616" cy="741098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415;p37">
            <a:extLst>
              <a:ext uri="{FF2B5EF4-FFF2-40B4-BE49-F238E27FC236}">
                <a16:creationId xmlns:a16="http://schemas.microsoft.com/office/drawing/2014/main" id="{32F88597-EBFD-DD4A-C987-6DB2D38324C8}"/>
              </a:ext>
            </a:extLst>
          </p:cNvPr>
          <p:cNvSpPr txBox="1">
            <a:spLocks/>
          </p:cNvSpPr>
          <p:nvPr/>
        </p:nvSpPr>
        <p:spPr>
          <a:xfrm>
            <a:off x="873500" y="596606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2800" dirty="0">
                <a:solidFill>
                  <a:schemeClr val="bg2"/>
                </a:solidFill>
                <a:latin typeface="Averia Serif Libre" panose="020B0604020202020204" charset="0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887263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>
          <a:extLst>
            <a:ext uri="{FF2B5EF4-FFF2-40B4-BE49-F238E27FC236}">
              <a16:creationId xmlns:a16="http://schemas.microsoft.com/office/drawing/2014/main" id="{E8226CF1-25B2-EBE4-5AF0-851274969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p61">
            <a:extLst>
              <a:ext uri="{FF2B5EF4-FFF2-40B4-BE49-F238E27FC236}">
                <a16:creationId xmlns:a16="http://schemas.microsoft.com/office/drawing/2014/main" id="{38D9C1F6-B4F4-DEEF-5ADC-E19BE607E7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Dataset</a:t>
            </a:r>
            <a:r>
              <a:rPr lang="en-US" dirty="0"/>
              <a:t> e </a:t>
            </a:r>
            <a:r>
              <a:rPr lang="en-US" dirty="0">
                <a:solidFill>
                  <a:schemeClr val="accent3"/>
                </a:solidFill>
              </a:rPr>
              <a:t>Bias</a:t>
            </a:r>
            <a:r>
              <a:rPr lang="en-US" dirty="0"/>
              <a:t> </a:t>
            </a:r>
            <a:r>
              <a:rPr lang="en-US" dirty="0" err="1"/>
              <a:t>Dimensionale</a:t>
            </a:r>
            <a:endParaRPr dirty="0"/>
          </a:p>
        </p:txBody>
      </p:sp>
      <p:pic>
        <p:nvPicPr>
          <p:cNvPr id="957" name="Google Shape;957;p61">
            <a:extLst>
              <a:ext uri="{FF2B5EF4-FFF2-40B4-BE49-F238E27FC236}">
                <a16:creationId xmlns:a16="http://schemas.microsoft.com/office/drawing/2014/main" id="{C39E8007-F749-08B7-C981-B83493BAA8C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751367">
            <a:off x="7856426" y="4018205"/>
            <a:ext cx="1148699" cy="1064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C046F62-AF0F-24BB-4731-163CB730B8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1420" y="1213010"/>
            <a:ext cx="1101159" cy="11011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56EB3A9-40CA-86AB-CED8-0A4F4E8E025C}"/>
              </a:ext>
            </a:extLst>
          </p:cNvPr>
          <p:cNvSpPr txBox="1"/>
          <p:nvPr/>
        </p:nvSpPr>
        <p:spPr>
          <a:xfrm>
            <a:off x="2924748" y="2340169"/>
            <a:ext cx="35501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SOLUZIONE</a:t>
            </a:r>
            <a:r>
              <a:rPr lang="en-US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: </a:t>
            </a:r>
            <a:r>
              <a:rPr lang="en-US" sz="1800" dirty="0">
                <a:solidFill>
                  <a:schemeClr val="tx2"/>
                </a:solidFill>
                <a:latin typeface="Baloo 2" panose="020B0604020202020204" charset="0"/>
                <a:cs typeface="Baloo 2" panose="020B0604020202020204" charset="0"/>
              </a:rPr>
              <a:t>Bootstrap Sampling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5658D2-BD04-4474-9CE7-DD54028A9035}"/>
              </a:ext>
            </a:extLst>
          </p:cNvPr>
          <p:cNvSpPr txBox="1"/>
          <p:nvPr/>
        </p:nvSpPr>
        <p:spPr>
          <a:xfrm>
            <a:off x="2210884" y="2905584"/>
            <a:ext cx="56578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100 campioni casuali dalla rete tradizionale</a:t>
            </a:r>
          </a:p>
          <a:p>
            <a:r>
              <a:rPr lang="it-IT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Ciascuno con esattamente 57 nodi (= dimensione Roca)</a:t>
            </a:r>
          </a:p>
          <a:p>
            <a:r>
              <a:rPr lang="it-IT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Confronto DISTRIBUZIONI vs valore singolo</a:t>
            </a:r>
          </a:p>
          <a:p>
            <a:r>
              <a:rPr lang="it-IT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Elimina completamente bias dimensionale</a:t>
            </a:r>
            <a:endParaRPr lang="en-US" sz="1800" dirty="0">
              <a:solidFill>
                <a:schemeClr val="tx1"/>
              </a:solidFill>
              <a:latin typeface="Baloo 2" panose="020B0604020202020204" charset="0"/>
              <a:cs typeface="Baloo 2" panose="020B060402020202020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0329FD3-756D-9C2A-72E0-DC69940015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6513" y="2905584"/>
            <a:ext cx="248742" cy="24874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0DF81CF-DD33-6F36-C93C-A1213B32AA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6513" y="3183865"/>
            <a:ext cx="248742" cy="24874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C376EDD-D56E-2CB5-2543-B9A75F2F18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6513" y="3474780"/>
            <a:ext cx="248742" cy="2487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09A0892-ACB5-3D57-00EF-8F173C8733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6513" y="3753061"/>
            <a:ext cx="248742" cy="248742"/>
          </a:xfrm>
          <a:prstGeom prst="rect">
            <a:avLst/>
          </a:prstGeom>
        </p:spPr>
      </p:pic>
      <p:pic>
        <p:nvPicPr>
          <p:cNvPr id="22" name="Google Shape;410;p37">
            <a:extLst>
              <a:ext uri="{FF2B5EF4-FFF2-40B4-BE49-F238E27FC236}">
                <a16:creationId xmlns:a16="http://schemas.microsoft.com/office/drawing/2014/main" id="{12C284A3-6FE8-B9B7-FF6B-A5D581E9E11D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t="49657"/>
          <a:stretch/>
        </p:blipFill>
        <p:spPr>
          <a:xfrm>
            <a:off x="683542" y="406649"/>
            <a:ext cx="1114616" cy="741098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415;p37">
            <a:extLst>
              <a:ext uri="{FF2B5EF4-FFF2-40B4-BE49-F238E27FC236}">
                <a16:creationId xmlns:a16="http://schemas.microsoft.com/office/drawing/2014/main" id="{7834431F-BC6A-CAB5-C60F-7CA903A9C299}"/>
              </a:ext>
            </a:extLst>
          </p:cNvPr>
          <p:cNvSpPr txBox="1">
            <a:spLocks/>
          </p:cNvSpPr>
          <p:nvPr/>
        </p:nvSpPr>
        <p:spPr>
          <a:xfrm>
            <a:off x="873500" y="596606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2800" dirty="0">
                <a:solidFill>
                  <a:schemeClr val="bg2"/>
                </a:solidFill>
                <a:latin typeface="Averia Serif Libre" panose="020B0604020202020204" charset="0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630152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>
          <a:extLst>
            <a:ext uri="{FF2B5EF4-FFF2-40B4-BE49-F238E27FC236}">
              <a16:creationId xmlns:a16="http://schemas.microsoft.com/office/drawing/2014/main" id="{513141F3-6A43-4E32-E427-6AB982C61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39">
            <a:extLst>
              <a:ext uri="{FF2B5EF4-FFF2-40B4-BE49-F238E27FC236}">
                <a16:creationId xmlns:a16="http://schemas.microsoft.com/office/drawing/2014/main" id="{D061B699-00EA-E08C-370B-2ED0F756D5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4818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err="1"/>
              <a:t>Metriche</a:t>
            </a:r>
            <a:r>
              <a:rPr lang="en-US"/>
              <a:t> </a:t>
            </a:r>
            <a:r>
              <a:rPr lang="en-US">
                <a:solidFill>
                  <a:schemeClr val="accent3"/>
                </a:solidFill>
              </a:rPr>
              <a:t>di</a:t>
            </a:r>
            <a:r>
              <a:rPr lang="en-US"/>
              <a:t> Rete</a:t>
            </a:r>
            <a:endParaRPr lang="en-US">
              <a:solidFill>
                <a:schemeClr val="accent3"/>
              </a:solidFill>
            </a:endParaRPr>
          </a:p>
        </p:txBody>
      </p:sp>
      <p:pic>
        <p:nvPicPr>
          <p:cNvPr id="435" name="Google Shape;435;p39">
            <a:extLst>
              <a:ext uri="{FF2B5EF4-FFF2-40B4-BE49-F238E27FC236}">
                <a16:creationId xmlns:a16="http://schemas.microsoft.com/office/drawing/2014/main" id="{B3CD6546-5663-05A1-5391-C4B2D43A8AE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700148">
            <a:off x="7947197" y="4621120"/>
            <a:ext cx="364095" cy="461187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34088E1B-DD57-2624-D305-A97017FFC28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98524914"/>
                  </p:ext>
                </p:extLst>
              </p:nvPr>
            </p:nvGraphicFramePr>
            <p:xfrm>
              <a:off x="1598283" y="1272539"/>
              <a:ext cx="5780712" cy="3244260"/>
            </p:xfrm>
            <a:graphic>
              <a:graphicData uri="http://schemas.openxmlformats.org/drawingml/2006/table">
                <a:tbl>
                  <a:tblPr firstRow="1" bandRow="1">
                    <a:tableStyleId>{ADAE659C-C952-46C8-91E4-36EE228BC025}</a:tableStyleId>
                  </a:tblPr>
                  <a:tblGrid>
                    <a:gridCol w="1337812">
                      <a:extLst>
                        <a:ext uri="{9D8B030D-6E8A-4147-A177-3AD203B41FA5}">
                          <a16:colId xmlns:a16="http://schemas.microsoft.com/office/drawing/2014/main" val="3320819004"/>
                        </a:ext>
                      </a:extLst>
                    </a:gridCol>
                    <a:gridCol w="4442900">
                      <a:extLst>
                        <a:ext uri="{9D8B030D-6E8A-4147-A177-3AD203B41FA5}">
                          <a16:colId xmlns:a16="http://schemas.microsoft.com/office/drawing/2014/main" val="554133102"/>
                        </a:ext>
                      </a:extLst>
                    </a:gridCol>
                  </a:tblGrid>
                  <a:tr h="6579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>
                              <a:solidFill>
                                <a:schemeClr val="tx1"/>
                              </a:solidFill>
                              <a:latin typeface="Averia Serif Libre" panose="020B0604020202020204" charset="0"/>
                            </a:rPr>
                            <a:t>METRICA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400" b="1">
                            <a:solidFill>
                              <a:schemeClr val="tx1"/>
                            </a:solidFill>
                            <a:latin typeface="Averia Serif Libre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858198"/>
                      </a:ext>
                    </a:extLst>
                  </a:tr>
                  <a:tr h="4997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Sigma (σ)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Misura small-worldness - alto clustering con cammini brevi.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78215096"/>
                      </a:ext>
                    </a:extLst>
                  </a:tr>
                  <a:tr h="51364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err="1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Modularità</a:t>
                          </a:r>
                          <a:r>
                            <a:rPr lang="en-US" sz="1400" b="1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Baloo 2" panose="020B0604020202020204" charset="0"/>
                                </a:rPr>
                                <m:t>𝑸</m:t>
                              </m:r>
                            </m:oMath>
                          </a14:m>
                          <a:r>
                            <a:rPr lang="en-US" sz="1400" b="1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Quanto la rete è organizzata in comunità specializzate.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20408026"/>
                      </a:ext>
                    </a:extLst>
                  </a:tr>
                  <a:tr h="51364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Clustering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Quanto gli ingredienti formano triangoli (gruppi interconnessi).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51585361"/>
                      </a:ext>
                    </a:extLst>
                  </a:tr>
                  <a:tr h="51364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Path Length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Quanti passaggi servono per connettere due ingredienti.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3475731"/>
                      </a:ext>
                    </a:extLst>
                  </a:tr>
                  <a:tr h="51364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err="1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Densità</a:t>
                          </a:r>
                          <a:endParaRPr lang="en-US" sz="1400" b="1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Quanti abbinamenti possibili sono effettivamente utilizzati.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0409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34088E1B-DD57-2624-D305-A97017FFC28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98524914"/>
                  </p:ext>
                </p:extLst>
              </p:nvPr>
            </p:nvGraphicFramePr>
            <p:xfrm>
              <a:off x="1598283" y="1272539"/>
              <a:ext cx="5780712" cy="3244260"/>
            </p:xfrm>
            <a:graphic>
              <a:graphicData uri="http://schemas.openxmlformats.org/drawingml/2006/table">
                <a:tbl>
                  <a:tblPr firstRow="1" bandRow="1">
                    <a:tableStyleId>{ADAE659C-C952-46C8-91E4-36EE228BC025}</a:tableStyleId>
                  </a:tblPr>
                  <a:tblGrid>
                    <a:gridCol w="1337812">
                      <a:extLst>
                        <a:ext uri="{9D8B030D-6E8A-4147-A177-3AD203B41FA5}">
                          <a16:colId xmlns:a16="http://schemas.microsoft.com/office/drawing/2014/main" val="3320819004"/>
                        </a:ext>
                      </a:extLst>
                    </a:gridCol>
                    <a:gridCol w="4442900">
                      <a:extLst>
                        <a:ext uri="{9D8B030D-6E8A-4147-A177-3AD203B41FA5}">
                          <a16:colId xmlns:a16="http://schemas.microsoft.com/office/drawing/2014/main" val="554133102"/>
                        </a:ext>
                      </a:extLst>
                    </a:gridCol>
                  </a:tblGrid>
                  <a:tr h="6579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>
                              <a:solidFill>
                                <a:schemeClr val="tx1"/>
                              </a:solidFill>
                              <a:latin typeface="Averia Serif Libre" panose="020B0604020202020204" charset="0"/>
                            </a:rPr>
                            <a:t>METRICA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400" b="1">
                            <a:solidFill>
                              <a:schemeClr val="tx1"/>
                            </a:solidFill>
                            <a:latin typeface="Averia Serif Libre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858198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Sigma (σ)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Misura small-worldness - alto clustering con cammini brevi.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78215096"/>
                      </a:ext>
                    </a:extLst>
                  </a:tr>
                  <a:tr h="513649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t="-235000" r="-332075" b="-31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Quanto la rete è organizzata in comunità specializzate.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20408026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Clustering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Quanto gli ingredienti formano triangoli (gruppi interconnessi).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5158536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Path Length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Quanti passaggi servono per connettere due ingredienti.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3475731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err="1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Densità</a:t>
                          </a:r>
                          <a:endParaRPr lang="en-US" sz="1400" b="1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Quanti abbinamenti possibili sono effettivamente utilizzati.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040930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Google Shape;408;p37">
            <a:extLst>
              <a:ext uri="{FF2B5EF4-FFF2-40B4-BE49-F238E27FC236}">
                <a16:creationId xmlns:a16="http://schemas.microsoft.com/office/drawing/2014/main" id="{8E370339-1A2F-90EE-07A1-59090CAFA277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t="49657"/>
          <a:stretch/>
        </p:blipFill>
        <p:spPr>
          <a:xfrm>
            <a:off x="1598283" y="445025"/>
            <a:ext cx="1114616" cy="741098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413;p37">
            <a:extLst>
              <a:ext uri="{FF2B5EF4-FFF2-40B4-BE49-F238E27FC236}">
                <a16:creationId xmlns:a16="http://schemas.microsoft.com/office/drawing/2014/main" id="{7FEC7D47-273E-B9CB-666C-F4B0248B8327}"/>
              </a:ext>
            </a:extLst>
          </p:cNvPr>
          <p:cNvSpPr txBox="1">
            <a:spLocks/>
          </p:cNvSpPr>
          <p:nvPr/>
        </p:nvSpPr>
        <p:spPr>
          <a:xfrm>
            <a:off x="1788241" y="634982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2800">
                <a:solidFill>
                  <a:schemeClr val="bg2"/>
                </a:solidFill>
                <a:latin typeface="Averia Serif Libre" panose="020B0604020202020204" charset="0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5228938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>
          <a:extLst>
            <a:ext uri="{FF2B5EF4-FFF2-40B4-BE49-F238E27FC236}">
              <a16:creationId xmlns:a16="http://schemas.microsoft.com/office/drawing/2014/main" id="{46490B54-5652-AE2B-A028-027E2001D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39">
            <a:extLst>
              <a:ext uri="{FF2B5EF4-FFF2-40B4-BE49-F238E27FC236}">
                <a16:creationId xmlns:a16="http://schemas.microsoft.com/office/drawing/2014/main" id="{C6FF94B2-5881-AD58-59EF-9EEA24EDD5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 err="1"/>
              <a:t>Metriche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di</a:t>
            </a:r>
            <a:r>
              <a:rPr lang="en-US" dirty="0"/>
              <a:t> Rete</a:t>
            </a:r>
          </a:p>
        </p:txBody>
      </p:sp>
      <p:pic>
        <p:nvPicPr>
          <p:cNvPr id="435" name="Google Shape;435;p39">
            <a:extLst>
              <a:ext uri="{FF2B5EF4-FFF2-40B4-BE49-F238E27FC236}">
                <a16:creationId xmlns:a16="http://schemas.microsoft.com/office/drawing/2014/main" id="{F5C65445-C49F-FDCD-114B-565125BD66E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700148">
            <a:off x="7947197" y="4621120"/>
            <a:ext cx="364095" cy="461187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408;p37">
            <a:extLst>
              <a:ext uri="{FF2B5EF4-FFF2-40B4-BE49-F238E27FC236}">
                <a16:creationId xmlns:a16="http://schemas.microsoft.com/office/drawing/2014/main" id="{5F119C8F-63D5-ADAE-475F-DA4B3AA16C2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49657"/>
          <a:stretch/>
        </p:blipFill>
        <p:spPr>
          <a:xfrm>
            <a:off x="1598283" y="445025"/>
            <a:ext cx="1114616" cy="741098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413;p37">
            <a:extLst>
              <a:ext uri="{FF2B5EF4-FFF2-40B4-BE49-F238E27FC236}">
                <a16:creationId xmlns:a16="http://schemas.microsoft.com/office/drawing/2014/main" id="{FE79E8F4-AA24-30F4-6A39-96ECEB1C33D3}"/>
              </a:ext>
            </a:extLst>
          </p:cNvPr>
          <p:cNvSpPr txBox="1">
            <a:spLocks/>
          </p:cNvSpPr>
          <p:nvPr/>
        </p:nvSpPr>
        <p:spPr>
          <a:xfrm>
            <a:off x="1788241" y="634982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2800" dirty="0">
                <a:solidFill>
                  <a:schemeClr val="bg2"/>
                </a:solidFill>
                <a:latin typeface="Averia Serif Libre" panose="020B0604020202020204" charset="0"/>
              </a:rPr>
              <a:t>04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62979A-8DF3-D850-5DF9-FF3FAC8520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147" y="228201"/>
            <a:ext cx="7127706" cy="4713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8330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>
          <a:extLst>
            <a:ext uri="{FF2B5EF4-FFF2-40B4-BE49-F238E27FC236}">
              <a16:creationId xmlns:a16="http://schemas.microsoft.com/office/drawing/2014/main" id="{4A7F51DE-81D9-56B9-D295-62513A3DC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39">
            <a:extLst>
              <a:ext uri="{FF2B5EF4-FFF2-40B4-BE49-F238E27FC236}">
                <a16:creationId xmlns:a16="http://schemas.microsoft.com/office/drawing/2014/main" id="{7E1C5CEA-1FB3-92D3-DA03-9FB06C0235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24818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 err="1"/>
              <a:t>Confronto</a:t>
            </a:r>
            <a:r>
              <a:rPr lang="en-US" dirty="0"/>
              <a:t> </a:t>
            </a:r>
            <a:r>
              <a:rPr lang="en-US" dirty="0" err="1">
                <a:solidFill>
                  <a:schemeClr val="accent3"/>
                </a:solidFill>
              </a:rPr>
              <a:t>Statistico</a:t>
            </a:r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435" name="Google Shape;435;p39">
            <a:extLst>
              <a:ext uri="{FF2B5EF4-FFF2-40B4-BE49-F238E27FC236}">
                <a16:creationId xmlns:a16="http://schemas.microsoft.com/office/drawing/2014/main" id="{F887B398-038D-BB12-7465-86FA5525735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700148">
            <a:off x="7947197" y="4621120"/>
            <a:ext cx="364095" cy="461187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5B86B5D6-5331-B56B-A7F0-E0190EB69EF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7960787"/>
                  </p:ext>
                </p:extLst>
              </p:nvPr>
            </p:nvGraphicFramePr>
            <p:xfrm>
              <a:off x="615182" y="1372792"/>
              <a:ext cx="7913636" cy="3212353"/>
            </p:xfrm>
            <a:graphic>
              <a:graphicData uri="http://schemas.openxmlformats.org/drawingml/2006/table">
                <a:tbl>
                  <a:tblPr firstRow="1" bandRow="1">
                    <a:tableStyleId>{ADAE659C-C952-46C8-91E4-36EE228BC025}</a:tableStyleId>
                  </a:tblPr>
                  <a:tblGrid>
                    <a:gridCol w="1337812">
                      <a:extLst>
                        <a:ext uri="{9D8B030D-6E8A-4147-A177-3AD203B41FA5}">
                          <a16:colId xmlns:a16="http://schemas.microsoft.com/office/drawing/2014/main" val="3320819004"/>
                        </a:ext>
                      </a:extLst>
                    </a:gridCol>
                    <a:gridCol w="2174884">
                      <a:extLst>
                        <a:ext uri="{9D8B030D-6E8A-4147-A177-3AD203B41FA5}">
                          <a16:colId xmlns:a16="http://schemas.microsoft.com/office/drawing/2014/main" val="554133102"/>
                        </a:ext>
                      </a:extLst>
                    </a:gridCol>
                    <a:gridCol w="2200470">
                      <a:extLst>
                        <a:ext uri="{9D8B030D-6E8A-4147-A177-3AD203B41FA5}">
                          <a16:colId xmlns:a16="http://schemas.microsoft.com/office/drawing/2014/main" val="3958016419"/>
                        </a:ext>
                      </a:extLst>
                    </a:gridCol>
                    <a:gridCol w="2200470">
                      <a:extLst>
                        <a:ext uri="{9D8B030D-6E8A-4147-A177-3AD203B41FA5}">
                          <a16:colId xmlns:a16="http://schemas.microsoft.com/office/drawing/2014/main" val="3847586671"/>
                        </a:ext>
                      </a:extLst>
                    </a:gridCol>
                  </a:tblGrid>
                  <a:tr h="6579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>
                              <a:solidFill>
                                <a:schemeClr val="tx1"/>
                              </a:solidFill>
                              <a:latin typeface="Averia Serif Libre" panose="020B0604020202020204" charset="0"/>
                            </a:rPr>
                            <a:t>METRICA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>
                              <a:solidFill>
                                <a:schemeClr val="tx1"/>
                              </a:solidFill>
                              <a:latin typeface="Averia Serif Libre" panose="020B0604020202020204" charset="0"/>
                            </a:rPr>
                            <a:t>TRADIZIONALE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>
                              <a:solidFill>
                                <a:schemeClr val="tx1"/>
                              </a:solidFill>
                              <a:latin typeface="Averia Serif Libre" panose="020B0604020202020204" charset="0"/>
                            </a:rPr>
                            <a:t>ROCA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>
                              <a:solidFill>
                                <a:schemeClr val="tx1"/>
                              </a:solidFill>
                              <a:latin typeface="Averia Serif Libre" panose="020B0604020202020204" charset="0"/>
                            </a:rPr>
                            <a:t>P-VALUE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858198"/>
                      </a:ext>
                    </a:extLst>
                  </a:tr>
                  <a:tr h="4997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Sigma (σ)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1.0077 ± 0.0039</a:t>
                          </a:r>
                          <a:endParaRPr lang="en-US" sz="140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1.1499</a:t>
                          </a:r>
                          <a:endParaRPr lang="en-US" sz="140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&lt;0.001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78215096"/>
                      </a:ext>
                    </a:extLst>
                  </a:tr>
                  <a:tr h="51364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 err="1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Modularità</a:t>
                          </a:r>
                          <a:r>
                            <a:rPr lang="en-US" sz="1400" b="1" dirty="0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Baloo 2" panose="020B0604020202020204" charset="0"/>
                                </a:rPr>
                                <m:t>𝑸</m:t>
                              </m:r>
                            </m:oMath>
                          </a14:m>
                          <a:r>
                            <a:rPr lang="en-US" sz="1400" b="1" dirty="0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0.0356 ± 0.0036</a:t>
                          </a:r>
                          <a:endParaRPr lang="pl-PL" sz="1400" i="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0.0587</a:t>
                          </a:r>
                          <a:endParaRPr lang="en-US" sz="140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&lt;0.001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20408026"/>
                      </a:ext>
                    </a:extLst>
                  </a:tr>
                  <a:tr h="51364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Clustering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0.9773 ± 0.0100</a:t>
                          </a:r>
                          <a:endParaRPr lang="en-US" sz="140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0.8688</a:t>
                          </a:r>
                          <a:endParaRPr lang="en-US" sz="140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&lt;0.001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51585361"/>
                      </a:ext>
                    </a:extLst>
                  </a:tr>
                  <a:tr h="51364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Path Length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1.0269 ± 0.0134</a:t>
                          </a:r>
                          <a:endParaRPr lang="en-US" sz="140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1.2375</a:t>
                          </a:r>
                          <a:endParaRPr lang="en-US" sz="140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&lt;0.001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3475731"/>
                      </a:ext>
                    </a:extLst>
                  </a:tr>
                  <a:tr h="51364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 err="1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Densità</a:t>
                          </a:r>
                          <a:endParaRPr lang="en-US" sz="1400" b="1" dirty="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0.9731 ± 0.0134</a:t>
                          </a:r>
                          <a:endParaRPr lang="en-US" sz="140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0.7625</a:t>
                          </a:r>
                          <a:endParaRPr lang="en-US" sz="140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&lt;0.001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04093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5B86B5D6-5331-B56B-A7F0-E0190EB69EF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7960787"/>
                  </p:ext>
                </p:extLst>
              </p:nvPr>
            </p:nvGraphicFramePr>
            <p:xfrm>
              <a:off x="615182" y="1372792"/>
              <a:ext cx="7913636" cy="3212353"/>
            </p:xfrm>
            <a:graphic>
              <a:graphicData uri="http://schemas.openxmlformats.org/drawingml/2006/table">
                <a:tbl>
                  <a:tblPr firstRow="1" bandRow="1">
                    <a:tableStyleId>{ADAE659C-C952-46C8-91E4-36EE228BC025}</a:tableStyleId>
                  </a:tblPr>
                  <a:tblGrid>
                    <a:gridCol w="1337812">
                      <a:extLst>
                        <a:ext uri="{9D8B030D-6E8A-4147-A177-3AD203B41FA5}">
                          <a16:colId xmlns:a16="http://schemas.microsoft.com/office/drawing/2014/main" val="3320819004"/>
                        </a:ext>
                      </a:extLst>
                    </a:gridCol>
                    <a:gridCol w="2174884">
                      <a:extLst>
                        <a:ext uri="{9D8B030D-6E8A-4147-A177-3AD203B41FA5}">
                          <a16:colId xmlns:a16="http://schemas.microsoft.com/office/drawing/2014/main" val="554133102"/>
                        </a:ext>
                      </a:extLst>
                    </a:gridCol>
                    <a:gridCol w="2200470">
                      <a:extLst>
                        <a:ext uri="{9D8B030D-6E8A-4147-A177-3AD203B41FA5}">
                          <a16:colId xmlns:a16="http://schemas.microsoft.com/office/drawing/2014/main" val="3958016419"/>
                        </a:ext>
                      </a:extLst>
                    </a:gridCol>
                    <a:gridCol w="2200470">
                      <a:extLst>
                        <a:ext uri="{9D8B030D-6E8A-4147-A177-3AD203B41FA5}">
                          <a16:colId xmlns:a16="http://schemas.microsoft.com/office/drawing/2014/main" val="3847586671"/>
                        </a:ext>
                      </a:extLst>
                    </a:gridCol>
                  </a:tblGrid>
                  <a:tr h="657971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>
                              <a:solidFill>
                                <a:schemeClr val="tx1"/>
                              </a:solidFill>
                              <a:latin typeface="Averia Serif Libre" panose="020B0604020202020204" charset="0"/>
                            </a:rPr>
                            <a:t>METRICA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>
                              <a:solidFill>
                                <a:schemeClr val="tx1"/>
                              </a:solidFill>
                              <a:latin typeface="Averia Serif Libre" panose="020B0604020202020204" charset="0"/>
                            </a:rPr>
                            <a:t>TRADIZIONALE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>
                              <a:solidFill>
                                <a:schemeClr val="tx1"/>
                              </a:solidFill>
                              <a:latin typeface="Averia Serif Libre" panose="020B0604020202020204" charset="0"/>
                            </a:rPr>
                            <a:t>ROCA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>
                              <a:solidFill>
                                <a:schemeClr val="tx1"/>
                              </a:solidFill>
                              <a:latin typeface="Averia Serif Libre" panose="020B0604020202020204" charset="0"/>
                            </a:rPr>
                            <a:t>P-VALUE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accent6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2858198"/>
                      </a:ext>
                    </a:extLst>
                  </a:tr>
                  <a:tr h="49978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Sigma (σ)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1.0077 ± 0.0039</a:t>
                          </a:r>
                          <a:endParaRPr lang="en-US" sz="140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1.1499</a:t>
                          </a:r>
                          <a:endParaRPr lang="en-US" sz="140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&lt;0.001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78215096"/>
                      </a:ext>
                    </a:extLst>
                  </a:tr>
                  <a:tr h="513649">
                    <a:tc>
                      <a:txBody>
                        <a:bodyPr/>
                        <a:lstStyle/>
                        <a:p>
                          <a:endParaRPr lang="it-IT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952" t="-232500" r="-495238" b="-30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0.0356 ± 0.0036</a:t>
                          </a:r>
                          <a:endParaRPr lang="pl-PL" sz="1400" i="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0.0587</a:t>
                          </a:r>
                          <a:endParaRPr lang="en-US" sz="140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&lt;0.001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20408026"/>
                      </a:ext>
                    </a:extLst>
                  </a:tr>
                  <a:tr h="51364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Clustering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0.9773 ± 0.0100</a:t>
                          </a:r>
                          <a:endParaRPr lang="en-US" sz="140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0.8688</a:t>
                          </a:r>
                          <a:endParaRPr lang="en-US" sz="140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&lt;0.001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51585361"/>
                      </a:ext>
                    </a:extLst>
                  </a:tr>
                  <a:tr h="51364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Path Length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1.0269 ± 0.0134</a:t>
                          </a:r>
                          <a:endParaRPr lang="en-US" sz="140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1.2375</a:t>
                          </a:r>
                          <a:endParaRPr lang="en-US" sz="140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&lt;0.001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3475731"/>
                      </a:ext>
                    </a:extLst>
                  </a:tr>
                  <a:tr h="51364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 err="1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Densità</a:t>
                          </a:r>
                          <a:endParaRPr lang="en-US" sz="1400" b="1" dirty="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tx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0.9731 ± 0.0134</a:t>
                          </a:r>
                          <a:endParaRPr lang="en-US" sz="140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it-IT" sz="1400" b="0" i="0" u="none" strike="noStrike" cap="none">
                              <a:solidFill>
                                <a:schemeClr val="tx1"/>
                              </a:solidFill>
                              <a:effectLst/>
                              <a:latin typeface="Baloo 2" panose="020B0604020202020204" charset="0"/>
                              <a:ea typeface="Arial"/>
                              <a:cs typeface="Baloo 2" panose="020B0604020202020204" charset="0"/>
                              <a:sym typeface="Arial"/>
                            </a:rPr>
                            <a:t>0.7625</a:t>
                          </a:r>
                          <a:endParaRPr lang="en-US" sz="1400">
                            <a:solidFill>
                              <a:schemeClr val="tx1"/>
                            </a:solidFill>
                            <a:latin typeface="Baloo 2" panose="020B0604020202020204" charset="0"/>
                            <a:cs typeface="Baloo 2" panose="020B0604020202020204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Baloo 2" panose="020B0604020202020204" charset="0"/>
                              <a:cs typeface="Baloo 2" panose="020B0604020202020204" charset="0"/>
                            </a:rPr>
                            <a:t>&lt;0.001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7040930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Google Shape;408;p37">
            <a:extLst>
              <a:ext uri="{FF2B5EF4-FFF2-40B4-BE49-F238E27FC236}">
                <a16:creationId xmlns:a16="http://schemas.microsoft.com/office/drawing/2014/main" id="{8F138EEF-4465-5D5B-DA79-156B549C82D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t="49657"/>
          <a:stretch/>
        </p:blipFill>
        <p:spPr>
          <a:xfrm>
            <a:off x="1598283" y="445025"/>
            <a:ext cx="1114616" cy="741098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413;p37">
            <a:extLst>
              <a:ext uri="{FF2B5EF4-FFF2-40B4-BE49-F238E27FC236}">
                <a16:creationId xmlns:a16="http://schemas.microsoft.com/office/drawing/2014/main" id="{E4B4BF25-DFD6-3717-1708-E089C8392C1D}"/>
              </a:ext>
            </a:extLst>
          </p:cNvPr>
          <p:cNvSpPr txBox="1">
            <a:spLocks/>
          </p:cNvSpPr>
          <p:nvPr/>
        </p:nvSpPr>
        <p:spPr>
          <a:xfrm>
            <a:off x="1788241" y="634982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2800" dirty="0">
                <a:solidFill>
                  <a:schemeClr val="bg2"/>
                </a:solidFill>
                <a:latin typeface="Averia Serif Libre" panose="020B0604020202020204" charset="0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6241370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5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>
          <a:extLst>
            <a:ext uri="{FF2B5EF4-FFF2-40B4-BE49-F238E27FC236}">
              <a16:creationId xmlns:a16="http://schemas.microsoft.com/office/drawing/2014/main" id="{63ADDB62-564F-DE17-914C-852B0023E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p61">
            <a:extLst>
              <a:ext uri="{FF2B5EF4-FFF2-40B4-BE49-F238E27FC236}">
                <a16:creationId xmlns:a16="http://schemas.microsoft.com/office/drawing/2014/main" id="{12E21B92-E76E-B575-860D-8702335F68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solidFill>
                  <a:schemeClr val="accent3"/>
                </a:solidFill>
              </a:rPr>
              <a:t>Analisi</a:t>
            </a:r>
            <a:r>
              <a:rPr lang="en-US" dirty="0"/>
              <a:t> della </a:t>
            </a:r>
            <a:r>
              <a:rPr lang="en-US" dirty="0" err="1">
                <a:solidFill>
                  <a:schemeClr val="accent3"/>
                </a:solidFill>
              </a:rPr>
              <a:t>Centralità</a:t>
            </a:r>
            <a:endParaRPr dirty="0">
              <a:solidFill>
                <a:schemeClr val="accent3"/>
              </a:solidFill>
            </a:endParaRPr>
          </a:p>
        </p:txBody>
      </p:sp>
      <p:pic>
        <p:nvPicPr>
          <p:cNvPr id="957" name="Google Shape;957;p61">
            <a:extLst>
              <a:ext uri="{FF2B5EF4-FFF2-40B4-BE49-F238E27FC236}">
                <a16:creationId xmlns:a16="http://schemas.microsoft.com/office/drawing/2014/main" id="{6DCE04B5-0F94-1F58-53E0-2BB969F1DCA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751367">
            <a:off x="7856426" y="4018205"/>
            <a:ext cx="1148699" cy="1064499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404;p37">
            <a:extLst>
              <a:ext uri="{FF2B5EF4-FFF2-40B4-BE49-F238E27FC236}">
                <a16:creationId xmlns:a16="http://schemas.microsoft.com/office/drawing/2014/main" id="{A797FEFA-4928-4D95-E1AC-4A548574B7AC}"/>
              </a:ext>
            </a:extLst>
          </p:cNvPr>
          <p:cNvSpPr txBox="1">
            <a:spLocks/>
          </p:cNvSpPr>
          <p:nvPr/>
        </p:nvSpPr>
        <p:spPr>
          <a:xfrm>
            <a:off x="955761" y="1550633"/>
            <a:ext cx="2723243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800" dirty="0">
                <a:solidFill>
                  <a:schemeClr val="accent4"/>
                </a:solidFill>
                <a:latin typeface="Averia Serif Libre" panose="020B0604020202020204" charset="0"/>
                <a:cs typeface="Baloo 2" panose="020B0604020202020204" charset="0"/>
              </a:rPr>
              <a:t>RETE TRADIZIONALE</a:t>
            </a:r>
          </a:p>
        </p:txBody>
      </p:sp>
      <p:sp>
        <p:nvSpPr>
          <p:cNvPr id="19" name="Google Shape;404;p37">
            <a:extLst>
              <a:ext uri="{FF2B5EF4-FFF2-40B4-BE49-F238E27FC236}">
                <a16:creationId xmlns:a16="http://schemas.microsoft.com/office/drawing/2014/main" id="{A37AE7EA-E404-C390-7AFB-8D52334A9D87}"/>
              </a:ext>
            </a:extLst>
          </p:cNvPr>
          <p:cNvSpPr txBox="1">
            <a:spLocks/>
          </p:cNvSpPr>
          <p:nvPr/>
        </p:nvSpPr>
        <p:spPr>
          <a:xfrm>
            <a:off x="5237605" y="1550633"/>
            <a:ext cx="3043436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800" dirty="0">
                <a:solidFill>
                  <a:schemeClr val="accent4"/>
                </a:solidFill>
                <a:latin typeface="Averia Serif Libre" panose="020B0604020202020204" charset="0"/>
                <a:cs typeface="Baloo 2" panose="020B0604020202020204" charset="0"/>
              </a:rPr>
              <a:t>RETE ROCA (</a:t>
            </a:r>
            <a:r>
              <a:rPr lang="en-US" sz="1800" dirty="0" err="1">
                <a:solidFill>
                  <a:schemeClr val="accent4"/>
                </a:solidFill>
                <a:latin typeface="Averia Serif Libre" panose="020B0604020202020204" charset="0"/>
                <a:cs typeface="Baloo 2" panose="020B0604020202020204" charset="0"/>
              </a:rPr>
              <a:t>Avanguardia</a:t>
            </a:r>
            <a:r>
              <a:rPr lang="en-US" sz="1800" dirty="0">
                <a:solidFill>
                  <a:schemeClr val="accent4"/>
                </a:solidFill>
                <a:latin typeface="Averia Serif Libre" panose="020B0604020202020204" charset="0"/>
                <a:cs typeface="Baloo 2" panose="020B0604020202020204" charset="0"/>
              </a:rPr>
              <a:t>)   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E6B82A-C25F-6AEA-9723-F430E4E2431E}"/>
              </a:ext>
            </a:extLst>
          </p:cNvPr>
          <p:cNvSpPr txBox="1"/>
          <p:nvPr/>
        </p:nvSpPr>
        <p:spPr>
          <a:xfrm>
            <a:off x="5237605" y="2478041"/>
            <a:ext cx="33293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800" b="1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Nessun</a:t>
            </a:r>
            <a:r>
              <a:rPr lang="it-IT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ingrediente domina</a:t>
            </a:r>
          </a:p>
          <a:p>
            <a:r>
              <a:rPr lang="it-IT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eccessivamente</a:t>
            </a:r>
            <a:endParaRPr lang="en-US" sz="1800" dirty="0">
              <a:solidFill>
                <a:schemeClr val="tx1"/>
              </a:solidFill>
              <a:latin typeface="Baloo 2" panose="020B0604020202020204" charset="0"/>
              <a:cs typeface="Baloo 2" panose="020B0604020202020204" charset="0"/>
            </a:endParaRPr>
          </a:p>
        </p:txBody>
      </p:sp>
      <p:pic>
        <p:nvPicPr>
          <p:cNvPr id="9" name="Google Shape;408;p37">
            <a:extLst>
              <a:ext uri="{FF2B5EF4-FFF2-40B4-BE49-F238E27FC236}">
                <a16:creationId xmlns:a16="http://schemas.microsoft.com/office/drawing/2014/main" id="{F7D45920-CD38-C55D-D4E4-A631E2B1401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49657"/>
          <a:stretch/>
        </p:blipFill>
        <p:spPr>
          <a:xfrm>
            <a:off x="449966" y="471912"/>
            <a:ext cx="1114616" cy="741098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413;p37">
            <a:extLst>
              <a:ext uri="{FF2B5EF4-FFF2-40B4-BE49-F238E27FC236}">
                <a16:creationId xmlns:a16="http://schemas.microsoft.com/office/drawing/2014/main" id="{E89B314F-9DA9-A71A-3CBB-C6A2F82C0F7B}"/>
              </a:ext>
            </a:extLst>
          </p:cNvPr>
          <p:cNvSpPr txBox="1">
            <a:spLocks/>
          </p:cNvSpPr>
          <p:nvPr/>
        </p:nvSpPr>
        <p:spPr>
          <a:xfrm>
            <a:off x="639924" y="661869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2800" dirty="0">
                <a:solidFill>
                  <a:schemeClr val="bg2"/>
                </a:solidFill>
                <a:latin typeface="Averia Serif Libre" panose="020B0604020202020204" charset="0"/>
              </a:rPr>
              <a:t>05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954B3D-3A9A-B1F7-4817-CC75ECADB74E}"/>
              </a:ext>
            </a:extLst>
          </p:cNvPr>
          <p:cNvSpPr txBox="1"/>
          <p:nvPr/>
        </p:nvSpPr>
        <p:spPr>
          <a:xfrm>
            <a:off x="933351" y="2051358"/>
            <a:ext cx="27680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800" b="1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Top 5 (Betweenness):</a:t>
            </a:r>
          </a:p>
          <a:p>
            <a:r>
              <a:rPr lang="it-IT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	Sale</a:t>
            </a:r>
          </a:p>
          <a:p>
            <a:r>
              <a:rPr lang="it-IT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	Aglio</a:t>
            </a:r>
          </a:p>
          <a:p>
            <a:r>
              <a:rPr lang="it-IT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	Olio d'oliva</a:t>
            </a:r>
          </a:p>
          <a:p>
            <a:r>
              <a:rPr lang="it-IT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	Cipolla</a:t>
            </a:r>
          </a:p>
          <a:p>
            <a:r>
              <a:rPr lang="it-IT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	Pepe</a:t>
            </a:r>
            <a:endParaRPr lang="en-US" sz="1800" dirty="0">
              <a:solidFill>
                <a:schemeClr val="tx1"/>
              </a:solidFill>
              <a:latin typeface="Baloo 2" panose="020B0604020202020204" charset="0"/>
              <a:cs typeface="Baloo 2" panose="020B0604020202020204" charset="0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1926B670-E594-1EDA-7A02-A8665A0559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477" y="2631211"/>
            <a:ext cx="194006" cy="19400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3D7E4DC-704B-15CF-C8B8-72CD572996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9367" y="2884434"/>
            <a:ext cx="239938" cy="23993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A4122726-A100-CB39-F1FE-E242781D9A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87483" y="3168841"/>
            <a:ext cx="293219" cy="29321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1AA52752-E004-5138-5B61-3798667E6E4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39603" y="3511673"/>
            <a:ext cx="159466" cy="15946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21E99B78-EAD8-4F1E-D612-F7CF9A90F69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79840" y="2398308"/>
            <a:ext cx="159465" cy="159465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D48D5C3-44B9-17F6-92A0-7FCD95A1D70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96346" y="3094254"/>
            <a:ext cx="1684159" cy="1684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9835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8">
          <a:extLst>
            <a:ext uri="{FF2B5EF4-FFF2-40B4-BE49-F238E27FC236}">
              <a16:creationId xmlns:a16="http://schemas.microsoft.com/office/drawing/2014/main" id="{0773908F-A6F6-8A04-6D45-F74127968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p61">
            <a:extLst>
              <a:ext uri="{FF2B5EF4-FFF2-40B4-BE49-F238E27FC236}">
                <a16:creationId xmlns:a16="http://schemas.microsoft.com/office/drawing/2014/main" id="{2EBC2854-A058-5634-45A7-DDB32116B7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solidFill>
                  <a:schemeClr val="accent3"/>
                </a:solidFill>
              </a:rPr>
              <a:t>Analisi</a:t>
            </a:r>
            <a:r>
              <a:rPr lang="en-US" dirty="0"/>
              <a:t> della </a:t>
            </a:r>
            <a:r>
              <a:rPr lang="en-US" dirty="0" err="1">
                <a:solidFill>
                  <a:schemeClr val="accent3"/>
                </a:solidFill>
              </a:rPr>
              <a:t>Centralità</a:t>
            </a:r>
            <a:endParaRPr dirty="0">
              <a:solidFill>
                <a:schemeClr val="accent3"/>
              </a:solidFill>
            </a:endParaRPr>
          </a:p>
        </p:txBody>
      </p:sp>
      <p:pic>
        <p:nvPicPr>
          <p:cNvPr id="957" name="Google Shape;957;p61">
            <a:extLst>
              <a:ext uri="{FF2B5EF4-FFF2-40B4-BE49-F238E27FC236}">
                <a16:creationId xmlns:a16="http://schemas.microsoft.com/office/drawing/2014/main" id="{CD0536F8-4CCD-4320-EACA-9FA6B40A31D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751367">
            <a:off x="7856426" y="4018205"/>
            <a:ext cx="1148699" cy="1064499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404;p37">
            <a:extLst>
              <a:ext uri="{FF2B5EF4-FFF2-40B4-BE49-F238E27FC236}">
                <a16:creationId xmlns:a16="http://schemas.microsoft.com/office/drawing/2014/main" id="{C64B2A28-00F9-9C53-F5EE-CCDAFA99AD13}"/>
              </a:ext>
            </a:extLst>
          </p:cNvPr>
          <p:cNvSpPr txBox="1">
            <a:spLocks/>
          </p:cNvSpPr>
          <p:nvPr/>
        </p:nvSpPr>
        <p:spPr>
          <a:xfrm>
            <a:off x="955761" y="1550633"/>
            <a:ext cx="2723243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800" dirty="0">
                <a:solidFill>
                  <a:schemeClr val="accent4"/>
                </a:solidFill>
                <a:latin typeface="Averia Serif Libre" panose="020B0604020202020204" charset="0"/>
                <a:cs typeface="Baloo 2" panose="020B0604020202020204" charset="0"/>
              </a:rPr>
              <a:t>RETE TRADIZIONALE</a:t>
            </a:r>
          </a:p>
        </p:txBody>
      </p:sp>
      <p:sp>
        <p:nvSpPr>
          <p:cNvPr id="19" name="Google Shape;404;p37">
            <a:extLst>
              <a:ext uri="{FF2B5EF4-FFF2-40B4-BE49-F238E27FC236}">
                <a16:creationId xmlns:a16="http://schemas.microsoft.com/office/drawing/2014/main" id="{8AB545A6-4910-2E2F-9C2F-1558A5159D4F}"/>
              </a:ext>
            </a:extLst>
          </p:cNvPr>
          <p:cNvSpPr txBox="1">
            <a:spLocks/>
          </p:cNvSpPr>
          <p:nvPr/>
        </p:nvSpPr>
        <p:spPr>
          <a:xfrm>
            <a:off x="5237605" y="1550633"/>
            <a:ext cx="3043436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1800" dirty="0">
                <a:solidFill>
                  <a:schemeClr val="accent4"/>
                </a:solidFill>
                <a:latin typeface="Averia Serif Libre" panose="020B0604020202020204" charset="0"/>
                <a:cs typeface="Baloo 2" panose="020B0604020202020204" charset="0"/>
              </a:rPr>
              <a:t>RETE ROCA (</a:t>
            </a:r>
            <a:r>
              <a:rPr lang="en-US" sz="1800" dirty="0" err="1">
                <a:solidFill>
                  <a:schemeClr val="accent4"/>
                </a:solidFill>
                <a:latin typeface="Averia Serif Libre" panose="020B0604020202020204" charset="0"/>
                <a:cs typeface="Baloo 2" panose="020B0604020202020204" charset="0"/>
              </a:rPr>
              <a:t>Avanguardia</a:t>
            </a:r>
            <a:r>
              <a:rPr lang="en-US" sz="1800" dirty="0">
                <a:solidFill>
                  <a:schemeClr val="accent4"/>
                </a:solidFill>
                <a:latin typeface="Averia Serif Libre" panose="020B0604020202020204" charset="0"/>
                <a:cs typeface="Baloo 2" panose="020B0604020202020204" charset="0"/>
              </a:rPr>
              <a:t>)   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97784-F326-4184-FB69-4DD4B634820C}"/>
              </a:ext>
            </a:extLst>
          </p:cNvPr>
          <p:cNvSpPr txBox="1"/>
          <p:nvPr/>
        </p:nvSpPr>
        <p:spPr>
          <a:xfrm>
            <a:off x="5382856" y="2110506"/>
            <a:ext cx="33293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800" b="1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Caratteristiche:</a:t>
            </a:r>
          </a:p>
          <a:p>
            <a:r>
              <a:rPr lang="it-IT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Distribuzione piatta</a:t>
            </a:r>
          </a:p>
          <a:p>
            <a:r>
              <a:rPr lang="it-IT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Maggiore esplorazione Innovazione non vincolata</a:t>
            </a:r>
            <a:endParaRPr lang="en-US" sz="1800" dirty="0">
              <a:solidFill>
                <a:schemeClr val="tx1"/>
              </a:solidFill>
              <a:latin typeface="Baloo 2" panose="020B0604020202020204" charset="0"/>
              <a:cs typeface="Baloo 2" panose="020B0604020202020204" charset="0"/>
            </a:endParaRPr>
          </a:p>
        </p:txBody>
      </p:sp>
      <p:pic>
        <p:nvPicPr>
          <p:cNvPr id="9" name="Google Shape;408;p37">
            <a:extLst>
              <a:ext uri="{FF2B5EF4-FFF2-40B4-BE49-F238E27FC236}">
                <a16:creationId xmlns:a16="http://schemas.microsoft.com/office/drawing/2014/main" id="{0BABA738-8113-6AA0-FADE-7D459FA563F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49657"/>
          <a:stretch/>
        </p:blipFill>
        <p:spPr>
          <a:xfrm>
            <a:off x="449966" y="471912"/>
            <a:ext cx="1114616" cy="741098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413;p37">
            <a:extLst>
              <a:ext uri="{FF2B5EF4-FFF2-40B4-BE49-F238E27FC236}">
                <a16:creationId xmlns:a16="http://schemas.microsoft.com/office/drawing/2014/main" id="{B049A830-115A-4656-C5C6-386A4FD7375B}"/>
              </a:ext>
            </a:extLst>
          </p:cNvPr>
          <p:cNvSpPr txBox="1">
            <a:spLocks/>
          </p:cNvSpPr>
          <p:nvPr/>
        </p:nvSpPr>
        <p:spPr>
          <a:xfrm>
            <a:off x="639924" y="661869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2800" dirty="0">
                <a:solidFill>
                  <a:schemeClr val="bg2"/>
                </a:solidFill>
                <a:latin typeface="Averia Serif Libre" panose="020B0604020202020204" charset="0"/>
              </a:rPr>
              <a:t>05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7940F3E-57FC-D36F-D2C5-E209870C784B}"/>
              </a:ext>
            </a:extLst>
          </p:cNvPr>
          <p:cNvSpPr txBox="1"/>
          <p:nvPr/>
        </p:nvSpPr>
        <p:spPr>
          <a:xfrm>
            <a:off x="933351" y="2051358"/>
            <a:ext cx="307061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800" b="1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Caratteristiche:</a:t>
            </a:r>
          </a:p>
          <a:p>
            <a:r>
              <a:rPr lang="it-IT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Pochi "superstar" dominano</a:t>
            </a:r>
          </a:p>
          <a:p>
            <a:r>
              <a:rPr lang="it-IT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Centralizzazione elevata</a:t>
            </a:r>
          </a:p>
          <a:p>
            <a:r>
              <a:rPr lang="it-IT" sz="1800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Ingredienti canonici</a:t>
            </a:r>
            <a:endParaRPr lang="en-US" sz="1800" dirty="0">
              <a:solidFill>
                <a:schemeClr val="tx1"/>
              </a:solidFill>
              <a:latin typeface="Baloo 2" panose="020B0604020202020204" charset="0"/>
              <a:cs typeface="Baloo 2" panose="020B0604020202020204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845B59F-5B73-13F2-4DA3-86B7E7B296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6346" y="3094254"/>
            <a:ext cx="1684159" cy="168415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8821861-3BF6-9F45-884C-2A545735EA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5442" y="2125128"/>
            <a:ext cx="194006" cy="19400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6CDB32F-086D-D39F-CEDD-280615F37D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6335" y="2854316"/>
            <a:ext cx="239938" cy="23993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9AF298D-C6C7-A985-D3F4-4DD4CBA5431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59448" y="2901589"/>
            <a:ext cx="293219" cy="29321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C37DB3C6-F749-86C5-6ED9-628509F025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99271" y="2641740"/>
            <a:ext cx="159466" cy="15946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E30D9DD-242D-4342-739C-2A68304E268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3618" y="2398308"/>
            <a:ext cx="159465" cy="15946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7D87A4D-0060-AB83-A756-F1EBCBBD20B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32529" y="2635431"/>
            <a:ext cx="146610" cy="1466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096A46-7531-544E-BA32-A9100640F3D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76529" y="2729123"/>
            <a:ext cx="250386" cy="2503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5FB80E-E9AC-382B-2FAF-C05749AF5C7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14622" y="3182379"/>
            <a:ext cx="250386" cy="2503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30733DF-F480-9515-41D9-31C1D86C940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200485" y="2260714"/>
            <a:ext cx="158153" cy="1581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8EB4DCD-9EC5-73A1-76D7-23A2F342D8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66439" y="1950203"/>
            <a:ext cx="278789" cy="278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9137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41"/>
          <p:cNvSpPr txBox="1">
            <a:spLocks noGrp="1"/>
          </p:cNvSpPr>
          <p:nvPr>
            <p:ph type="subTitle" idx="1"/>
          </p:nvPr>
        </p:nvSpPr>
        <p:spPr>
          <a:xfrm>
            <a:off x="1888690" y="1392817"/>
            <a:ext cx="5366620" cy="10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/>
            <a:r>
              <a:rPr lang="it-IT" dirty="0"/>
              <a:t>Dataset Ahn et al. (2011) - Nature Scientific Reports</a:t>
            </a:r>
          </a:p>
          <a:p>
            <a:pPr marL="0" lvl="0" indent="0" algn="l"/>
            <a:r>
              <a:rPr lang="it-IT" dirty="0"/>
              <a:t>• 1.531 ingredienti analizzati scientificamente</a:t>
            </a:r>
          </a:p>
          <a:p>
            <a:pPr marL="0" lvl="0" indent="0" algn="l"/>
            <a:r>
              <a:rPr lang="it-IT" dirty="0"/>
              <a:t>• 1.000+ composti volatili identificati</a:t>
            </a:r>
          </a:p>
          <a:p>
            <a:pPr marL="0" lvl="0" indent="0" algn="l"/>
            <a:r>
              <a:rPr lang="it-IT" dirty="0"/>
              <a:t>• 221.777 connessioni basate su composti aromatici condivisi</a:t>
            </a:r>
            <a:endParaRPr dirty="0"/>
          </a:p>
        </p:txBody>
      </p:sp>
      <p:sp>
        <p:nvSpPr>
          <p:cNvPr id="453" name="Google Shape;453;p41"/>
          <p:cNvSpPr/>
          <p:nvPr/>
        </p:nvSpPr>
        <p:spPr>
          <a:xfrm flipH="1">
            <a:off x="-2726815" y="2168516"/>
            <a:ext cx="6764116" cy="4495212"/>
          </a:xfrm>
          <a:custGeom>
            <a:avLst/>
            <a:gdLst/>
            <a:ahLst/>
            <a:cxnLst/>
            <a:rect l="l" t="t" r="r" b="b"/>
            <a:pathLst>
              <a:path w="176909" h="117568" extrusionOk="0">
                <a:moveTo>
                  <a:pt x="149056" y="0"/>
                </a:moveTo>
                <a:cubicBezTo>
                  <a:pt x="129872" y="1286"/>
                  <a:pt x="120692" y="21475"/>
                  <a:pt x="113143" y="36605"/>
                </a:cubicBezTo>
                <a:cubicBezTo>
                  <a:pt x="108974" y="52575"/>
                  <a:pt x="93745" y="63238"/>
                  <a:pt x="77824" y="65545"/>
                </a:cubicBezTo>
                <a:cubicBezTo>
                  <a:pt x="75544" y="65861"/>
                  <a:pt x="73268" y="65992"/>
                  <a:pt x="70994" y="65992"/>
                </a:cubicBezTo>
                <a:cubicBezTo>
                  <a:pt x="59891" y="65992"/>
                  <a:pt x="48851" y="62867"/>
                  <a:pt x="37738" y="62867"/>
                </a:cubicBezTo>
                <a:cubicBezTo>
                  <a:pt x="35567" y="62867"/>
                  <a:pt x="33393" y="62986"/>
                  <a:pt x="31216" y="63271"/>
                </a:cubicBezTo>
                <a:cubicBezTo>
                  <a:pt x="14075" y="64804"/>
                  <a:pt x="0" y="81433"/>
                  <a:pt x="10697" y="97651"/>
                </a:cubicBezTo>
                <a:cubicBezTo>
                  <a:pt x="21574" y="114230"/>
                  <a:pt x="43593" y="114197"/>
                  <a:pt x="61294" y="116307"/>
                </a:cubicBezTo>
                <a:cubicBezTo>
                  <a:pt x="67565" y="117131"/>
                  <a:pt x="74085" y="117568"/>
                  <a:pt x="80685" y="117568"/>
                </a:cubicBezTo>
                <a:cubicBezTo>
                  <a:pt x="120172" y="117568"/>
                  <a:pt x="162555" y="101925"/>
                  <a:pt x="172031" y="59859"/>
                </a:cubicBezTo>
                <a:cubicBezTo>
                  <a:pt x="176909" y="40445"/>
                  <a:pt x="173843" y="3214"/>
                  <a:pt x="14905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54" name="Google Shape;454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>
            <a:off x="-804845" y="3004050"/>
            <a:ext cx="3418375" cy="2960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55" name="Google Shape;455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7451768" y="965033"/>
            <a:ext cx="1397926" cy="31435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56" name="Google Shape;456;p4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8999989" flipH="1">
            <a:off x="2927552" y="4183716"/>
            <a:ext cx="474806" cy="601418"/>
          </a:xfrm>
          <a:prstGeom prst="rect">
            <a:avLst/>
          </a:prstGeom>
          <a:noFill/>
          <a:ln>
            <a:noFill/>
          </a:ln>
        </p:spPr>
      </p:pic>
      <p:pic>
        <p:nvPicPr>
          <p:cNvPr id="457" name="Google Shape;457;p4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flipH="1">
            <a:off x="7942400" y="983800"/>
            <a:ext cx="1146700" cy="327215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939;p61">
            <a:extLst>
              <a:ext uri="{FF2B5EF4-FFF2-40B4-BE49-F238E27FC236}">
                <a16:creationId xmlns:a16="http://schemas.microsoft.com/office/drawing/2014/main" id="{8B21CC73-3C12-EA5E-4FDE-922D60176ADE}"/>
              </a:ext>
            </a:extLst>
          </p:cNvPr>
          <p:cNvSpPr txBox="1">
            <a:spLocks/>
          </p:cNvSpPr>
          <p:nvPr/>
        </p:nvSpPr>
        <p:spPr>
          <a:xfrm>
            <a:off x="720000" y="309467"/>
            <a:ext cx="7704000" cy="10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Averia Serif Libre"/>
              <a:buNone/>
              <a:defRPr sz="6000" b="0" i="0" u="none" strike="noStrike" cap="none">
                <a:solidFill>
                  <a:schemeClr val="accen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veria Serif Libre"/>
              <a:buNone/>
              <a:defRPr sz="6000" b="0" i="0" u="none" strike="noStrike" cap="none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veria Serif Libre"/>
              <a:buNone/>
              <a:defRPr sz="6000" b="0" i="0" u="none" strike="noStrike" cap="none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veria Serif Libre"/>
              <a:buNone/>
              <a:defRPr sz="6000" b="0" i="0" u="none" strike="noStrike" cap="none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veria Serif Libre"/>
              <a:buNone/>
              <a:defRPr sz="6000" b="0" i="0" u="none" strike="noStrike" cap="none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veria Serif Libre"/>
              <a:buNone/>
              <a:defRPr sz="6000" b="0" i="0" u="none" strike="noStrike" cap="none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veria Serif Libre"/>
              <a:buNone/>
              <a:defRPr sz="6000" b="0" i="0" u="none" strike="noStrike" cap="none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veria Serif Libre"/>
              <a:buNone/>
              <a:defRPr sz="6000" b="0" i="0" u="none" strike="noStrike" cap="none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veria Serif Libre"/>
              <a:buNone/>
              <a:defRPr sz="6000" b="0" i="0" u="none" strike="noStrike" cap="none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r>
              <a:rPr lang="en-US" sz="2800" dirty="0" err="1">
                <a:solidFill>
                  <a:schemeClr val="accent3"/>
                </a:solidFill>
              </a:rPr>
              <a:t>Validazione</a:t>
            </a:r>
            <a:r>
              <a:rPr lang="en-US" sz="2800" dirty="0">
                <a:solidFill>
                  <a:schemeClr val="accent3"/>
                </a:solidFill>
              </a:rPr>
              <a:t> </a:t>
            </a:r>
            <a:r>
              <a:rPr lang="en-US" sz="2800" dirty="0" err="1"/>
              <a:t>Chimica</a:t>
            </a:r>
            <a:r>
              <a:rPr lang="en-US" sz="2800" dirty="0">
                <a:solidFill>
                  <a:schemeClr val="accent3"/>
                </a:solidFill>
              </a:rPr>
              <a:t>: </a:t>
            </a:r>
          </a:p>
          <a:p>
            <a:r>
              <a:rPr lang="en-US" sz="2800" dirty="0" err="1"/>
              <a:t>Flavour</a:t>
            </a:r>
            <a:r>
              <a:rPr lang="en-US" sz="2800" dirty="0">
                <a:solidFill>
                  <a:schemeClr val="accent3"/>
                </a:solidFill>
              </a:rPr>
              <a:t> Network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26C6EC-B7D2-9B96-E53B-FECAA59A8D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68721" y="1263198"/>
            <a:ext cx="239938" cy="2399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035D5FD-2172-5E8E-110D-8DD43E2AF60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5850" y="1248189"/>
            <a:ext cx="293219" cy="2932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2DAEE8C-3BA9-EF5D-90F0-E62DFA5A5FE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10118" y="1633824"/>
            <a:ext cx="159466" cy="1594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6C4A797-CB06-C6CA-B6DD-7D91A05BB1E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21756" y="1868888"/>
            <a:ext cx="146610" cy="1466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A2CC720-81A7-B6C0-0B0E-76B073485FC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03513" y="1691807"/>
            <a:ext cx="250386" cy="2503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4EB74E-4837-E94A-B373-699BCF6F5C8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43528" y="2058651"/>
            <a:ext cx="250386" cy="2503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2E7839D-96A3-D8B7-D795-0C709111F95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00485" y="2260714"/>
            <a:ext cx="158153" cy="1581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5234B02-CC15-DDF3-A0D8-073CEE7DD9F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30189" y="1919256"/>
            <a:ext cx="278789" cy="278789"/>
          </a:xfrm>
          <a:prstGeom prst="rect">
            <a:avLst/>
          </a:prstGeom>
        </p:spPr>
      </p:pic>
      <p:pic>
        <p:nvPicPr>
          <p:cNvPr id="15" name="Google Shape;408;p37">
            <a:extLst>
              <a:ext uri="{FF2B5EF4-FFF2-40B4-BE49-F238E27FC236}">
                <a16:creationId xmlns:a16="http://schemas.microsoft.com/office/drawing/2014/main" id="{32A05A75-8045-2A8E-2BEE-C55CE7B13424}"/>
              </a:ext>
            </a:extLst>
          </p:cNvPr>
          <p:cNvPicPr preferRelativeResize="0"/>
          <p:nvPr/>
        </p:nvPicPr>
        <p:blipFill rotWithShape="1">
          <a:blip r:embed="rId15">
            <a:alphaModFix/>
          </a:blip>
          <a:srcRect t="49657"/>
          <a:stretch/>
        </p:blipFill>
        <p:spPr>
          <a:xfrm>
            <a:off x="1534921" y="470931"/>
            <a:ext cx="1114616" cy="741098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413;p37">
            <a:extLst>
              <a:ext uri="{FF2B5EF4-FFF2-40B4-BE49-F238E27FC236}">
                <a16:creationId xmlns:a16="http://schemas.microsoft.com/office/drawing/2014/main" id="{46C02257-CDB6-C231-7FA7-49912554A97D}"/>
              </a:ext>
            </a:extLst>
          </p:cNvPr>
          <p:cNvSpPr txBox="1">
            <a:spLocks/>
          </p:cNvSpPr>
          <p:nvPr/>
        </p:nvSpPr>
        <p:spPr>
          <a:xfrm>
            <a:off x="1724879" y="660888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2800" dirty="0">
                <a:solidFill>
                  <a:schemeClr val="bg2"/>
                </a:solidFill>
                <a:latin typeface="Averia Serif Libre" panose="020B0604020202020204" charset="0"/>
              </a:rPr>
              <a:t>06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558B32-3D53-F062-F577-BAB41FE441F7}"/>
              </a:ext>
            </a:extLst>
          </p:cNvPr>
          <p:cNvSpPr txBox="1"/>
          <p:nvPr/>
        </p:nvSpPr>
        <p:spPr>
          <a:xfrm>
            <a:off x="1920988" y="2984382"/>
            <a:ext cx="530202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Roasted Beef (meat) ↔ Beer (alcohol) 106 </a:t>
            </a:r>
            <a:r>
              <a:rPr lang="en-US" dirty="0" err="1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composti</a:t>
            </a:r>
            <a:r>
              <a:rPr lang="en-US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condivisi</a:t>
            </a:r>
            <a:r>
              <a:rPr lang="en-US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</a:t>
            </a:r>
          </a:p>
          <a:p>
            <a:r>
              <a:rPr lang="en-US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Grilled Beef (meat) ↔ Coffee (coffee) 106 </a:t>
            </a:r>
            <a:r>
              <a:rPr lang="en-US" dirty="0" err="1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composti</a:t>
            </a:r>
            <a:r>
              <a:rPr lang="en-US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condivisi</a:t>
            </a:r>
            <a:endParaRPr lang="en-US" dirty="0">
              <a:solidFill>
                <a:schemeClr val="tx1"/>
              </a:solidFill>
              <a:latin typeface="Baloo 2" panose="020B0604020202020204" charset="0"/>
              <a:cs typeface="Baloo 2" panose="020B0604020202020204" charset="0"/>
            </a:endParaRPr>
          </a:p>
          <a:p>
            <a:r>
              <a:rPr lang="en-US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Cooked Apple (fruit) ↔ White Wine (alcohol) 106 </a:t>
            </a:r>
            <a:r>
              <a:rPr lang="en-US" dirty="0" err="1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composti</a:t>
            </a:r>
            <a:r>
              <a:rPr lang="en-US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</a:t>
            </a:r>
            <a:r>
              <a:rPr lang="en-US" dirty="0" err="1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condivisi</a:t>
            </a:r>
            <a:endParaRPr lang="en-US" dirty="0">
              <a:solidFill>
                <a:schemeClr val="tx1"/>
              </a:solidFill>
              <a:latin typeface="Baloo 2" panose="020B0604020202020204" charset="0"/>
              <a:cs typeface="Baloo 2" panose="020B0604020202020204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3B410E01-FBB2-1A59-ADD9-7D5CFEA38FC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749230" y="3001480"/>
            <a:ext cx="250386" cy="25038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66D2FCF-3B09-E621-A0F2-C08F99224D2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749230" y="3217648"/>
            <a:ext cx="250386" cy="250386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8233D19-FC71-F46F-5A62-3A53F7DC7D43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749230" y="3447073"/>
            <a:ext cx="250386" cy="250386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CC6A512-1843-0ABA-BBBF-A5CABC9FA520}"/>
              </a:ext>
            </a:extLst>
          </p:cNvPr>
          <p:cNvSpPr txBox="1"/>
          <p:nvPr/>
        </p:nvSpPr>
        <p:spPr>
          <a:xfrm>
            <a:off x="1643528" y="2791197"/>
            <a:ext cx="48560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accent2"/>
                </a:solidFill>
                <a:latin typeface="Baloo 2" panose="020B0604020202020204" charset="0"/>
                <a:cs typeface="Baloo 2" panose="020B0604020202020204" charset="0"/>
              </a:rPr>
              <a:t>Flavour</a:t>
            </a:r>
            <a:r>
              <a:rPr lang="en-US" b="1" dirty="0">
                <a:solidFill>
                  <a:schemeClr val="accent2"/>
                </a:solidFill>
                <a:latin typeface="Baloo 2" panose="020B0604020202020204" charset="0"/>
                <a:cs typeface="Baloo 2" panose="020B0604020202020204" charset="0"/>
              </a:rPr>
              <a:t> </a:t>
            </a:r>
            <a:r>
              <a:rPr lang="en-US" b="1" dirty="0" err="1">
                <a:solidFill>
                  <a:schemeClr val="accent2"/>
                </a:solidFill>
                <a:latin typeface="Baloo 2" panose="020B0604020202020204" charset="0"/>
                <a:cs typeface="Baloo 2" panose="020B0604020202020204" charset="0"/>
              </a:rPr>
              <a:t>più</a:t>
            </a:r>
            <a:r>
              <a:rPr lang="en-US" b="1" dirty="0">
                <a:solidFill>
                  <a:schemeClr val="accent2"/>
                </a:solidFill>
                <a:latin typeface="Baloo 2" panose="020B0604020202020204" charset="0"/>
                <a:cs typeface="Baloo 2" panose="020B0604020202020204" charset="0"/>
              </a:rPr>
              <a:t> </a:t>
            </a:r>
            <a:r>
              <a:rPr lang="en-US" b="1" dirty="0" err="1">
                <a:solidFill>
                  <a:schemeClr val="accent2"/>
                </a:solidFill>
                <a:latin typeface="Baloo 2" panose="020B0604020202020204" charset="0"/>
                <a:cs typeface="Baloo 2" panose="020B0604020202020204" charset="0"/>
              </a:rPr>
              <a:t>interessanti</a:t>
            </a:r>
            <a:r>
              <a:rPr lang="en-US" b="1" dirty="0">
                <a:solidFill>
                  <a:schemeClr val="accent2"/>
                </a:solidFill>
                <a:latin typeface="Baloo 2" panose="020B0604020202020204" charset="0"/>
                <a:cs typeface="Baloo 2" panose="020B0604020202020204" charset="0"/>
              </a:rPr>
              <a:t>: 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43"/>
          <p:cNvSpPr/>
          <p:nvPr/>
        </p:nvSpPr>
        <p:spPr>
          <a:xfrm>
            <a:off x="3571663" y="1167641"/>
            <a:ext cx="649200" cy="649200"/>
          </a:xfrm>
          <a:prstGeom prst="ellips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43"/>
          <p:cNvSpPr/>
          <p:nvPr/>
        </p:nvSpPr>
        <p:spPr>
          <a:xfrm>
            <a:off x="4923137" y="1167641"/>
            <a:ext cx="649200" cy="649200"/>
          </a:xfrm>
          <a:prstGeom prst="ellips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43"/>
          <p:cNvSpPr txBox="1">
            <a:spLocks noGrp="1"/>
          </p:cNvSpPr>
          <p:nvPr>
            <p:ph type="title"/>
          </p:nvPr>
        </p:nvSpPr>
        <p:spPr>
          <a:xfrm>
            <a:off x="1421175" y="445025"/>
            <a:ext cx="6301800" cy="7410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Bridge</a:t>
            </a:r>
            <a:r>
              <a:rPr lang="en" dirty="0"/>
              <a:t> Discovery</a:t>
            </a:r>
            <a:endParaRPr dirty="0"/>
          </a:p>
        </p:txBody>
      </p:sp>
      <p:sp>
        <p:nvSpPr>
          <p:cNvPr id="474" name="Google Shape;474;p43"/>
          <p:cNvSpPr txBox="1">
            <a:spLocks noGrp="1"/>
          </p:cNvSpPr>
          <p:nvPr>
            <p:ph type="subTitle" idx="2"/>
          </p:nvPr>
        </p:nvSpPr>
        <p:spPr>
          <a:xfrm>
            <a:off x="2354961" y="2052595"/>
            <a:ext cx="4434079" cy="25481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/>
            <a:r>
              <a:rPr lang="en-US" b="1" dirty="0"/>
              <a:t>ANALISI BASE: </a:t>
            </a:r>
          </a:p>
          <a:p>
            <a:pPr marL="0" lvl="0" indent="0" algn="l"/>
            <a:r>
              <a:rPr lang="en-US" dirty="0"/>
              <a:t> </a:t>
            </a:r>
            <a:r>
              <a:rPr lang="en-US" dirty="0" err="1"/>
              <a:t>Composti</a:t>
            </a:r>
            <a:r>
              <a:rPr lang="en-US" dirty="0"/>
              <a:t> </a:t>
            </a:r>
            <a:r>
              <a:rPr lang="en-US" dirty="0" err="1"/>
              <a:t>condivisi</a:t>
            </a:r>
            <a:r>
              <a:rPr lang="en-US" dirty="0"/>
              <a:t>: 0 </a:t>
            </a:r>
          </a:p>
          <a:p>
            <a:pPr marL="0" lvl="0" indent="0" algn="l"/>
            <a:r>
              <a:rPr lang="en-US" dirty="0"/>
              <a:t> Jaccard similarity: 0.000</a:t>
            </a:r>
          </a:p>
          <a:p>
            <a:pPr marL="0" lvl="0" indent="0" algn="l"/>
            <a:r>
              <a:rPr lang="en-US" dirty="0"/>
              <a:t> </a:t>
            </a:r>
            <a:r>
              <a:rPr lang="en-US" dirty="0" err="1"/>
              <a:t>Connessione</a:t>
            </a:r>
            <a:r>
              <a:rPr lang="en-US" dirty="0"/>
              <a:t> </a:t>
            </a:r>
            <a:r>
              <a:rPr lang="en-US" dirty="0" err="1"/>
              <a:t>diretta</a:t>
            </a:r>
            <a:r>
              <a:rPr lang="en-US" dirty="0"/>
              <a:t>: NO </a:t>
            </a:r>
          </a:p>
          <a:p>
            <a:pPr marL="0" lvl="0" indent="0" algn="l"/>
            <a:r>
              <a:rPr lang="en-US" dirty="0"/>
              <a:t> Path length: 2 hops </a:t>
            </a:r>
          </a:p>
          <a:p>
            <a:pPr marL="0" lvl="0" indent="0" algn="l"/>
            <a:r>
              <a:rPr lang="en-US" dirty="0"/>
              <a:t> </a:t>
            </a:r>
            <a:r>
              <a:rPr lang="en-US" dirty="0" err="1"/>
              <a:t>Percorso</a:t>
            </a:r>
            <a:r>
              <a:rPr lang="en-US" dirty="0"/>
              <a:t>: salmon → </a:t>
            </a:r>
            <a:r>
              <a:rPr lang="en-US" dirty="0" err="1"/>
              <a:t>champagne_wine</a:t>
            </a:r>
            <a:r>
              <a:rPr lang="en-US" dirty="0"/>
              <a:t> → </a:t>
            </a:r>
            <a:r>
              <a:rPr lang="en-US" dirty="0" err="1"/>
              <a:t>maple_syrup</a:t>
            </a:r>
            <a:r>
              <a:rPr lang="en-US" dirty="0"/>
              <a:t>  </a:t>
            </a:r>
          </a:p>
          <a:p>
            <a:pPr marL="0" lvl="0" indent="0" algn="l"/>
            <a:r>
              <a:rPr lang="en-US" b="1" dirty="0"/>
              <a:t>BRIDGE DISCOVERY: </a:t>
            </a:r>
          </a:p>
          <a:p>
            <a:pPr marL="0" lvl="0" indent="0" algn="l"/>
            <a:r>
              <a:rPr lang="en-US" dirty="0"/>
              <a:t>  METHOD 1: Betweenness Centrality → wine </a:t>
            </a:r>
          </a:p>
          <a:p>
            <a:pPr marL="0" lvl="0" indent="0" algn="l"/>
            <a:r>
              <a:rPr lang="en-US" dirty="0"/>
              <a:t>  METHOD 2: Optimal Path → </a:t>
            </a:r>
            <a:r>
              <a:rPr lang="en-US" dirty="0" err="1"/>
              <a:t>champagne_wine</a:t>
            </a:r>
            <a:endParaRPr dirty="0"/>
          </a:p>
        </p:txBody>
      </p:sp>
      <p:pic>
        <p:nvPicPr>
          <p:cNvPr id="2" name="Google Shape;408;p37">
            <a:extLst>
              <a:ext uri="{FF2B5EF4-FFF2-40B4-BE49-F238E27FC236}">
                <a16:creationId xmlns:a16="http://schemas.microsoft.com/office/drawing/2014/main" id="{F154DB7A-C61C-54A3-2529-32B2A81979A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49657"/>
          <a:stretch/>
        </p:blipFill>
        <p:spPr>
          <a:xfrm>
            <a:off x="776465" y="445025"/>
            <a:ext cx="1114616" cy="741098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13;p37">
            <a:extLst>
              <a:ext uri="{FF2B5EF4-FFF2-40B4-BE49-F238E27FC236}">
                <a16:creationId xmlns:a16="http://schemas.microsoft.com/office/drawing/2014/main" id="{1446AF09-67FA-A4F2-BC99-4D1707D3789C}"/>
              </a:ext>
            </a:extLst>
          </p:cNvPr>
          <p:cNvSpPr txBox="1">
            <a:spLocks/>
          </p:cNvSpPr>
          <p:nvPr/>
        </p:nvSpPr>
        <p:spPr>
          <a:xfrm>
            <a:off x="966423" y="634982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2800" dirty="0">
                <a:solidFill>
                  <a:schemeClr val="bg2"/>
                </a:solidFill>
                <a:latin typeface="Averia Serif Libre" panose="020B0604020202020204" charset="0"/>
              </a:rPr>
              <a:t>06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7373A4-90BE-B1CE-D258-318E6BBEBD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198" y="1271182"/>
            <a:ext cx="409074" cy="4090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A6D7F4-1BED-C060-AC58-E9003E2BA4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5660" y="1288800"/>
            <a:ext cx="381205" cy="38120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FE7BC38-7B50-D71B-860A-14E087EACF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198" y="1167641"/>
            <a:ext cx="609604" cy="60960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066916E-BE53-21BE-FA8B-AA86000107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10466" y="2282761"/>
            <a:ext cx="288989" cy="28898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F31062F-EAC4-94A9-56F7-22DDFE6C83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10466" y="2512927"/>
            <a:ext cx="288989" cy="28898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1524541-D418-1F4B-A48E-FD7B6AF42E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14814" y="2743093"/>
            <a:ext cx="288989" cy="28898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4D8F7A2-7ABD-D558-0873-58F8A1D8643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07726" y="2942112"/>
            <a:ext cx="288989" cy="28898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16B2581-0105-FB7E-BAE7-BBF4BE7509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14813" y="3177866"/>
            <a:ext cx="288989" cy="28898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6CA4625-1C9A-E656-F4A5-72E2BB4D18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14813" y="3578085"/>
            <a:ext cx="288989" cy="28898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1CC26D9-94C8-9E53-D37F-44F2AF83FF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16421" y="3800416"/>
            <a:ext cx="288989" cy="2889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8">
          <a:extLst>
            <a:ext uri="{FF2B5EF4-FFF2-40B4-BE49-F238E27FC236}">
              <a16:creationId xmlns:a16="http://schemas.microsoft.com/office/drawing/2014/main" id="{54044614-6DDA-F32B-2B0C-1CC151366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43">
            <a:extLst>
              <a:ext uri="{FF2B5EF4-FFF2-40B4-BE49-F238E27FC236}">
                <a16:creationId xmlns:a16="http://schemas.microsoft.com/office/drawing/2014/main" id="{32F414C5-7421-49CD-F1B1-2BAD71EBA37A}"/>
              </a:ext>
            </a:extLst>
          </p:cNvPr>
          <p:cNvSpPr/>
          <p:nvPr/>
        </p:nvSpPr>
        <p:spPr>
          <a:xfrm>
            <a:off x="3571663" y="1167641"/>
            <a:ext cx="649200" cy="649200"/>
          </a:xfrm>
          <a:prstGeom prst="ellips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43">
            <a:extLst>
              <a:ext uri="{FF2B5EF4-FFF2-40B4-BE49-F238E27FC236}">
                <a16:creationId xmlns:a16="http://schemas.microsoft.com/office/drawing/2014/main" id="{907B2AD2-0C85-5F73-A9D2-55D39DC3DAF4}"/>
              </a:ext>
            </a:extLst>
          </p:cNvPr>
          <p:cNvSpPr/>
          <p:nvPr/>
        </p:nvSpPr>
        <p:spPr>
          <a:xfrm>
            <a:off x="4923137" y="1167641"/>
            <a:ext cx="649200" cy="649200"/>
          </a:xfrm>
          <a:prstGeom prst="ellips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43">
            <a:extLst>
              <a:ext uri="{FF2B5EF4-FFF2-40B4-BE49-F238E27FC236}">
                <a16:creationId xmlns:a16="http://schemas.microsoft.com/office/drawing/2014/main" id="{D25BD1CF-1800-38AB-E573-1ADF54BB14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21175" y="445025"/>
            <a:ext cx="6301800" cy="7410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Bridge</a:t>
            </a:r>
            <a:r>
              <a:rPr lang="en" dirty="0"/>
              <a:t> Discovery</a:t>
            </a:r>
            <a:endParaRPr dirty="0"/>
          </a:p>
        </p:txBody>
      </p:sp>
      <p:sp>
        <p:nvSpPr>
          <p:cNvPr id="474" name="Google Shape;474;p43">
            <a:extLst>
              <a:ext uri="{FF2B5EF4-FFF2-40B4-BE49-F238E27FC236}">
                <a16:creationId xmlns:a16="http://schemas.microsoft.com/office/drawing/2014/main" id="{D6416CF5-D6AF-0B27-1BA4-5572629B9A31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2354961" y="2052595"/>
            <a:ext cx="4434079" cy="74932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/>
            <a:r>
              <a:rPr lang="en-US" b="1"/>
              <a:t>BRIDGE DISCOVERY: </a:t>
            </a:r>
          </a:p>
          <a:p>
            <a:pPr marL="0" lvl="0" indent="0" algn="l"/>
            <a:r>
              <a:rPr lang="en-US"/>
              <a:t>  METHOD 1: Betweenness Centrality → wine </a:t>
            </a:r>
          </a:p>
          <a:p>
            <a:pPr marL="0" lvl="0" indent="0" algn="l"/>
            <a:r>
              <a:rPr lang="en-US"/>
              <a:t>  METHOD 2: Optimal Path → champagne_wine</a:t>
            </a:r>
            <a:endParaRPr dirty="0"/>
          </a:p>
        </p:txBody>
      </p:sp>
      <p:pic>
        <p:nvPicPr>
          <p:cNvPr id="2" name="Google Shape;408;p37">
            <a:extLst>
              <a:ext uri="{FF2B5EF4-FFF2-40B4-BE49-F238E27FC236}">
                <a16:creationId xmlns:a16="http://schemas.microsoft.com/office/drawing/2014/main" id="{0508431D-C37D-7280-FDA3-79F66BBE908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49657"/>
          <a:stretch/>
        </p:blipFill>
        <p:spPr>
          <a:xfrm>
            <a:off x="776465" y="445025"/>
            <a:ext cx="1114616" cy="741098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13;p37">
            <a:extLst>
              <a:ext uri="{FF2B5EF4-FFF2-40B4-BE49-F238E27FC236}">
                <a16:creationId xmlns:a16="http://schemas.microsoft.com/office/drawing/2014/main" id="{8D8E3ECC-9F21-D49B-E626-6BBD4D388052}"/>
              </a:ext>
            </a:extLst>
          </p:cNvPr>
          <p:cNvSpPr txBox="1">
            <a:spLocks/>
          </p:cNvSpPr>
          <p:nvPr/>
        </p:nvSpPr>
        <p:spPr>
          <a:xfrm>
            <a:off x="966423" y="634982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2800" dirty="0">
                <a:solidFill>
                  <a:schemeClr val="bg2"/>
                </a:solidFill>
                <a:latin typeface="Averia Serif Libre" panose="020B0604020202020204" charset="0"/>
              </a:rPr>
              <a:t>06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C16BCE-047B-5D9B-4A53-00EEF2733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198" y="1271182"/>
            <a:ext cx="409074" cy="4090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8AB7D55-92D3-135D-BAEE-470DD7C86D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5660" y="1288800"/>
            <a:ext cx="381205" cy="38120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5D27B77-46C0-1B4A-CA20-525B712637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198" y="1167641"/>
            <a:ext cx="609604" cy="60960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A5EFCE6-7D23-BCC6-3D7D-A150D54257A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10466" y="2282761"/>
            <a:ext cx="288989" cy="28898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19DC6C9-9884-C3CE-DC7F-378C82383F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10466" y="2512927"/>
            <a:ext cx="288989" cy="288989"/>
          </a:xfrm>
          <a:prstGeom prst="rect">
            <a:avLst/>
          </a:prstGeom>
        </p:spPr>
      </p:pic>
      <p:sp>
        <p:nvSpPr>
          <p:cNvPr id="4" name="Google Shape;474;p43">
            <a:extLst>
              <a:ext uri="{FF2B5EF4-FFF2-40B4-BE49-F238E27FC236}">
                <a16:creationId xmlns:a16="http://schemas.microsoft.com/office/drawing/2014/main" id="{0D2A1258-8DD5-A51C-49DC-D6A7FCE13012}"/>
              </a:ext>
            </a:extLst>
          </p:cNvPr>
          <p:cNvSpPr txBox="1">
            <a:spLocks/>
          </p:cNvSpPr>
          <p:nvPr/>
        </p:nvSpPr>
        <p:spPr>
          <a:xfrm>
            <a:off x="2460126" y="3032082"/>
            <a:ext cx="4211215" cy="152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None/>
              <a:defRPr sz="14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None/>
              <a:defRPr sz="14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None/>
              <a:defRPr sz="14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None/>
              <a:defRPr sz="14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None/>
              <a:defRPr sz="14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None/>
              <a:defRPr sz="14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None/>
              <a:defRPr sz="14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None/>
              <a:defRPr sz="14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Baloo 2"/>
              <a:buNone/>
              <a:defRPr sz="1400" b="0" i="0" u="none" strike="noStrike" cap="none">
                <a:solidFill>
                  <a:schemeClr val="dk1"/>
                </a:solidFill>
                <a:latin typeface="Baloo 2"/>
                <a:ea typeface="Baloo 2"/>
                <a:cs typeface="Baloo 2"/>
                <a:sym typeface="Baloo 2"/>
              </a:defRPr>
            </a:lvl9pPr>
          </a:lstStyle>
          <a:p>
            <a:pPr marL="0" indent="0" algn="l"/>
            <a:r>
              <a:rPr lang="it-IT" dirty="0"/>
              <a:t> Le salse a base di vino sono </a:t>
            </a:r>
            <a:r>
              <a:rPr lang="it-IT" b="1" dirty="0"/>
              <a:t>EFFETTIVAMENTE</a:t>
            </a:r>
            <a:r>
              <a:rPr lang="it-IT" dirty="0"/>
              <a:t> usate</a:t>
            </a:r>
          </a:p>
          <a:p>
            <a:pPr marL="0" indent="0" algn="l"/>
            <a:r>
              <a:rPr lang="it-IT" dirty="0"/>
              <a:t>  con il salmone glassato all'acero nella cucina reale</a:t>
            </a:r>
          </a:p>
          <a:p>
            <a:pPr marL="0" indent="0" algn="l"/>
            <a:endParaRPr lang="it-IT" dirty="0"/>
          </a:p>
          <a:p>
            <a:pPr marL="0" indent="0" algn="l"/>
            <a:endParaRPr lang="it-IT" dirty="0"/>
          </a:p>
          <a:p>
            <a:pPr marL="0" indent="0" algn="l"/>
            <a:r>
              <a:rPr lang="it-IT" dirty="0"/>
              <a:t>Abbinamenti </a:t>
            </a:r>
            <a:r>
              <a:rPr lang="it-IT" b="1" dirty="0"/>
              <a:t>TRADIZIONALI</a:t>
            </a:r>
            <a:r>
              <a:rPr lang="it-IT" dirty="0"/>
              <a:t>: Path = 1 </a:t>
            </a:r>
          </a:p>
          <a:p>
            <a:pPr marL="0" indent="0" algn="l"/>
            <a:r>
              <a:rPr lang="it-IT" dirty="0"/>
              <a:t>Abbinamenti </a:t>
            </a:r>
            <a:r>
              <a:rPr lang="it-IT" b="1" dirty="0"/>
              <a:t>INNOVATIVI</a:t>
            </a:r>
            <a:r>
              <a:rPr lang="it-IT" dirty="0"/>
              <a:t>: Path = 2-3</a:t>
            </a:r>
          </a:p>
          <a:p>
            <a:pPr marL="0" indent="0" algn="l"/>
            <a:endParaRPr lang="it-IT" dirty="0"/>
          </a:p>
          <a:p>
            <a:pPr marL="0" indent="0" algn="l"/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185E16D-02BF-C2D4-4E4E-36C03221555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18328" y="3032082"/>
            <a:ext cx="541798" cy="54179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32046E-94BD-E9FD-8D78-0B0BCED6A4F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34824" y="3804046"/>
            <a:ext cx="541798" cy="54179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F5587F8-1EEB-5D2D-65FE-520867E1D57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42367" y="2543890"/>
            <a:ext cx="194223" cy="19422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A7C40E6-949C-08CB-F6F2-1ED41F49050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48145" y="2330144"/>
            <a:ext cx="194222" cy="194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9086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2" name="Google Shape;422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6610" y="279155"/>
            <a:ext cx="1121750" cy="3948094"/>
          </a:xfrm>
          <a:prstGeom prst="rect">
            <a:avLst/>
          </a:prstGeom>
          <a:noFill/>
          <a:ln>
            <a:noFill/>
          </a:ln>
        </p:spPr>
      </p:pic>
      <p:pic>
        <p:nvPicPr>
          <p:cNvPr id="423" name="Google Shape;423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1075" y="952500"/>
            <a:ext cx="1397926" cy="31435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24" name="Google Shape;424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877859" y="2360525"/>
            <a:ext cx="930291" cy="1270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Google Shape;425;p3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1396901">
            <a:off x="7355674" y="326079"/>
            <a:ext cx="1147479" cy="1684243"/>
          </a:xfrm>
          <a:prstGeom prst="rect">
            <a:avLst/>
          </a:prstGeom>
          <a:noFill/>
          <a:ln>
            <a:noFill/>
          </a:ln>
        </p:spPr>
      </p:pic>
      <p:pic>
        <p:nvPicPr>
          <p:cNvPr id="426" name="Google Shape;426;p3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 rot="4078026" flipH="1">
            <a:off x="1252791" y="3677133"/>
            <a:ext cx="779793" cy="1886834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3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-1281025" y="2245786"/>
            <a:ext cx="2743250" cy="2838889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472;p43">
            <a:extLst>
              <a:ext uri="{FF2B5EF4-FFF2-40B4-BE49-F238E27FC236}">
                <a16:creationId xmlns:a16="http://schemas.microsoft.com/office/drawing/2014/main" id="{165CB1F7-0C72-88EF-72B6-8F0B4DD79C78}"/>
              </a:ext>
            </a:extLst>
          </p:cNvPr>
          <p:cNvSpPr txBox="1">
            <a:spLocks/>
          </p:cNvSpPr>
          <p:nvPr/>
        </p:nvSpPr>
        <p:spPr>
          <a:xfrm>
            <a:off x="1421175" y="445025"/>
            <a:ext cx="6301800" cy="7410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Font typeface="Averia Serif Libre"/>
              <a:buNone/>
              <a:defRPr sz="9500" b="0" i="0" u="none" strike="noStrike" cap="none">
                <a:solidFill>
                  <a:schemeClr val="accen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veria Serif Libre"/>
              <a:buNone/>
              <a:defRPr sz="3500" b="0" i="0" u="none" strike="noStrike" cap="none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veria Serif Libre"/>
              <a:buNone/>
              <a:defRPr sz="3500" b="0" i="0" u="none" strike="noStrike" cap="none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veria Serif Libre"/>
              <a:buNone/>
              <a:defRPr sz="3500" b="0" i="0" u="none" strike="noStrike" cap="none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veria Serif Libre"/>
              <a:buNone/>
              <a:defRPr sz="3500" b="0" i="0" u="none" strike="noStrike" cap="none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veria Serif Libre"/>
              <a:buNone/>
              <a:defRPr sz="3500" b="0" i="0" u="none" strike="noStrike" cap="none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veria Serif Libre"/>
              <a:buNone/>
              <a:defRPr sz="3500" b="0" i="0" u="none" strike="noStrike" cap="none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veria Serif Libre"/>
              <a:buNone/>
              <a:defRPr sz="3500" b="0" i="0" u="none" strike="noStrike" cap="none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veria Serif Libre"/>
              <a:buNone/>
              <a:defRPr sz="3500" b="0" i="0" u="none" strike="noStrike" cap="none">
                <a:solidFill>
                  <a:schemeClr val="dk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r>
              <a:rPr lang="en-US" sz="3500" dirty="0" err="1">
                <a:solidFill>
                  <a:schemeClr val="accent3"/>
                </a:solidFill>
              </a:rPr>
              <a:t>Conclusioni</a:t>
            </a:r>
            <a:endParaRPr lang="en-US" sz="35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247F81-FB6F-77F1-AE71-63F79C27D2C4}"/>
              </a:ext>
            </a:extLst>
          </p:cNvPr>
          <p:cNvSpPr txBox="1"/>
          <p:nvPr/>
        </p:nvSpPr>
        <p:spPr>
          <a:xfrm>
            <a:off x="1828122" y="1556319"/>
            <a:ext cx="55576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La cucina d'avanguardia presenta topologia "Small-World " </a:t>
            </a:r>
          </a:p>
          <a:p>
            <a:pPr algn="ctr"/>
            <a:r>
              <a:rPr lang="it-IT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più marcata rispetto alla cucina tradizionale</a:t>
            </a:r>
            <a:endParaRPr lang="en-US" dirty="0">
              <a:solidFill>
                <a:schemeClr val="tx1"/>
              </a:solidFill>
              <a:latin typeface="Baloo 2" panose="020B0604020202020204" charset="0"/>
              <a:cs typeface="Baloo 2" panose="020B060402020202020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FA2461-255E-9C84-C985-A971939480C1}"/>
              </a:ext>
            </a:extLst>
          </p:cNvPr>
          <p:cNvSpPr txBox="1"/>
          <p:nvPr/>
        </p:nvSpPr>
        <p:spPr>
          <a:xfrm>
            <a:off x="2138212" y="1321316"/>
            <a:ext cx="48560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1"/>
                </a:solidFill>
                <a:latin typeface="Baloo 2" panose="020B0604020202020204" charset="0"/>
                <a:cs typeface="Baloo 2" panose="020B0604020202020204" charset="0"/>
              </a:rPr>
              <a:t>IPOTESI:</a:t>
            </a:r>
          </a:p>
        </p:txBody>
      </p:sp>
      <p:pic>
        <p:nvPicPr>
          <p:cNvPr id="9" name="Google Shape;408;p37">
            <a:extLst>
              <a:ext uri="{FF2B5EF4-FFF2-40B4-BE49-F238E27FC236}">
                <a16:creationId xmlns:a16="http://schemas.microsoft.com/office/drawing/2014/main" id="{66CA9FAB-AFFD-91BB-49CF-3CE85FC71D07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 t="49657"/>
          <a:stretch/>
        </p:blipFill>
        <p:spPr>
          <a:xfrm>
            <a:off x="1939537" y="491902"/>
            <a:ext cx="1114616" cy="741098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413;p37">
            <a:extLst>
              <a:ext uri="{FF2B5EF4-FFF2-40B4-BE49-F238E27FC236}">
                <a16:creationId xmlns:a16="http://schemas.microsoft.com/office/drawing/2014/main" id="{C0C98646-BF49-5556-72A4-0A93EFE5D0E9}"/>
              </a:ext>
            </a:extLst>
          </p:cNvPr>
          <p:cNvSpPr txBox="1">
            <a:spLocks/>
          </p:cNvSpPr>
          <p:nvPr/>
        </p:nvSpPr>
        <p:spPr>
          <a:xfrm>
            <a:off x="2129495" y="681859"/>
            <a:ext cx="734700" cy="44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2800" dirty="0">
                <a:solidFill>
                  <a:schemeClr val="bg2"/>
                </a:solidFill>
                <a:latin typeface="Averia Serif Libre" panose="020B0604020202020204" charset="0"/>
              </a:rPr>
              <a:t>07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0320C45-D62F-7E5E-04D9-4FC5E2F470B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97911" y="1617247"/>
            <a:ext cx="392638" cy="3926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2320A4F-E8B0-422C-1E24-6FA22D7AB86E}"/>
              </a:ext>
            </a:extLst>
          </p:cNvPr>
          <p:cNvSpPr txBox="1"/>
          <p:nvPr/>
        </p:nvSpPr>
        <p:spPr>
          <a:xfrm>
            <a:off x="1939537" y="2121621"/>
            <a:ext cx="55576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La cucina d'avanguardia presenta topologia Small World più marcata:</a:t>
            </a:r>
          </a:p>
          <a:p>
            <a:pPr algn="ctr"/>
            <a:r>
              <a:rPr lang="el-GR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σ = 1.99 </a:t>
            </a:r>
            <a:r>
              <a:rPr lang="en-US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vs 1.25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5CE69E-9D05-0DE7-52B2-D2021A46FAF4}"/>
              </a:ext>
            </a:extLst>
          </p:cNvPr>
          <p:cNvSpPr txBox="1"/>
          <p:nvPr/>
        </p:nvSpPr>
        <p:spPr>
          <a:xfrm>
            <a:off x="2138212" y="1952628"/>
            <a:ext cx="48560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4"/>
                </a:solidFill>
                <a:latin typeface="Baloo 2" panose="020B0604020202020204" charset="0"/>
                <a:cs typeface="Baloo 2" panose="020B0604020202020204" charset="0"/>
              </a:rPr>
              <a:t>CONFERMA: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20FC68-A31A-8134-D06E-7CA679D95B5D}"/>
              </a:ext>
            </a:extLst>
          </p:cNvPr>
          <p:cNvSpPr txBox="1"/>
          <p:nvPr/>
        </p:nvSpPr>
        <p:spPr>
          <a:xfrm>
            <a:off x="1485759" y="2961239"/>
            <a:ext cx="48560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  <a:latin typeface="Baloo 2" panose="020B0604020202020204" charset="0"/>
                <a:cs typeface="Baloo 2" panose="020B0604020202020204" charset="0"/>
              </a:rPr>
              <a:t>SCOPERTA: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2CB9DF-C9A0-E278-615E-1AE01C29162B}"/>
              </a:ext>
            </a:extLst>
          </p:cNvPr>
          <p:cNvSpPr txBox="1"/>
          <p:nvPr/>
        </p:nvSpPr>
        <p:spPr>
          <a:xfrm>
            <a:off x="1436587" y="3198567"/>
            <a:ext cx="575396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Path Length nel Flavor Network rivela: </a:t>
            </a:r>
          </a:p>
          <a:p>
            <a:r>
              <a:rPr lang="it-IT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 Path = 1: Abbinamenti tradizionali → Validano Food Pairing Hypothesis</a:t>
            </a:r>
          </a:p>
          <a:p>
            <a:r>
              <a:rPr lang="it-IT" dirty="0">
                <a:solidFill>
                  <a:schemeClr val="tx1"/>
                </a:solidFill>
                <a:latin typeface="Baloo 2" panose="020B0604020202020204" charset="0"/>
                <a:cs typeface="Baloo 2" panose="020B0604020202020204" charset="0"/>
              </a:rPr>
              <a:t>  Path = 2-3: Abbinamenti innovativi</a:t>
            </a:r>
            <a:endParaRPr lang="en-US" dirty="0">
              <a:solidFill>
                <a:schemeClr val="tx1"/>
              </a:solidFill>
              <a:latin typeface="Baloo 2" panose="020B0604020202020204" charset="0"/>
              <a:cs typeface="Baloo 2" panose="020B060402020202020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F374402-3220-820A-7B04-343B8DBB64F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9548" y="3444656"/>
            <a:ext cx="183696" cy="18369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C28F7F0-BAEC-7F70-9ECC-3A5E386606F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6977" y="3646904"/>
            <a:ext cx="183696" cy="1836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p69"/>
          <p:cNvSpPr txBox="1">
            <a:spLocks noGrp="1"/>
          </p:cNvSpPr>
          <p:nvPr>
            <p:ph type="title"/>
          </p:nvPr>
        </p:nvSpPr>
        <p:spPr>
          <a:xfrm>
            <a:off x="2347949" y="696524"/>
            <a:ext cx="4448100" cy="126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Grazie!</a:t>
            </a:r>
            <a:endParaRPr dirty="0"/>
          </a:p>
        </p:txBody>
      </p:sp>
      <p:sp>
        <p:nvSpPr>
          <p:cNvPr id="1078" name="Google Shape;1078;p69"/>
          <p:cNvSpPr txBox="1">
            <a:spLocks noGrp="1"/>
          </p:cNvSpPr>
          <p:nvPr>
            <p:ph type="subTitle" idx="1"/>
          </p:nvPr>
        </p:nvSpPr>
        <p:spPr>
          <a:xfrm>
            <a:off x="2323601" y="1961924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 err="1"/>
              <a:t>Qualche</a:t>
            </a:r>
            <a:r>
              <a:rPr lang="en-US" sz="2000" b="1" dirty="0"/>
              <a:t> </a:t>
            </a:r>
            <a:r>
              <a:rPr lang="en-US" sz="2000" b="1" dirty="0" err="1"/>
              <a:t>domanda</a:t>
            </a:r>
            <a:r>
              <a:rPr lang="en-US" sz="2000" b="1" dirty="0"/>
              <a:t>?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/>
              <a:t>Scrivimi</a:t>
            </a:r>
            <a:r>
              <a:rPr lang="en-US" sz="1600" dirty="0"/>
              <a:t> pure qua: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hlinkClick r:id="rId3"/>
              </a:rPr>
              <a:t>aurora.felisari@studenti.unipr.it</a:t>
            </a:r>
            <a:endParaRPr sz="1600" dirty="0"/>
          </a:p>
        </p:txBody>
      </p:sp>
      <p:pic>
        <p:nvPicPr>
          <p:cNvPr id="1080" name="Google Shape;1080;p6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95505" y="-2"/>
            <a:ext cx="2014625" cy="21673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1" name="Google Shape;1081;p6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92675" y="3607525"/>
            <a:ext cx="817389" cy="2332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2" name="Google Shape;1082;p6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8100075">
            <a:off x="7958868" y="1590706"/>
            <a:ext cx="364095" cy="46118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FBFC787-257E-23FC-7700-693BFB306194}"/>
              </a:ext>
            </a:extLst>
          </p:cNvPr>
          <p:cNvSpPr/>
          <p:nvPr/>
        </p:nvSpPr>
        <p:spPr>
          <a:xfrm>
            <a:off x="2347900" y="4081200"/>
            <a:ext cx="4493900" cy="70345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oogle Shape;993;p64">
            <a:extLst>
              <a:ext uri="{FF2B5EF4-FFF2-40B4-BE49-F238E27FC236}">
                <a16:creationId xmlns:a16="http://schemas.microsoft.com/office/drawing/2014/main" id="{06E6A33F-15C1-C6D4-DD52-786224B81A04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t="49657"/>
          <a:stretch/>
        </p:blipFill>
        <p:spPr>
          <a:xfrm>
            <a:off x="3595501" y="3561715"/>
            <a:ext cx="1952998" cy="1298554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hlinkClick r:id="rId8"/>
            <a:extLst>
              <a:ext uri="{FF2B5EF4-FFF2-40B4-BE49-F238E27FC236}">
                <a16:creationId xmlns:a16="http://schemas.microsoft.com/office/drawing/2014/main" id="{32C5C675-996C-FB56-60B9-592FADB6777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71408" y="3949538"/>
            <a:ext cx="601183" cy="6011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Happy Culinarians Day! by Slidesgo">
  <a:themeElements>
    <a:clrScheme name="Simple Light">
      <a:dk1>
        <a:srgbClr val="51271D"/>
      </a:dk1>
      <a:lt1>
        <a:srgbClr val="F6EFEB"/>
      </a:lt1>
      <a:dk2>
        <a:srgbClr val="FEE0C4"/>
      </a:dk2>
      <a:lt2>
        <a:srgbClr val="E44C40"/>
      </a:lt2>
      <a:accent1>
        <a:srgbClr val="CB2127"/>
      </a:accent1>
      <a:accent2>
        <a:srgbClr val="F8A41C"/>
      </a:accent2>
      <a:accent3>
        <a:srgbClr val="CC6600"/>
      </a:accent3>
      <a:accent4>
        <a:srgbClr val="ABB94B"/>
      </a:accent4>
      <a:accent5>
        <a:srgbClr val="7B8B41"/>
      </a:accent5>
      <a:accent6>
        <a:srgbClr val="BF8E73"/>
      </a:accent6>
      <a:hlink>
        <a:srgbClr val="51271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2254</TotalTime>
  <Words>664</Words>
  <Application>Microsoft Macintosh PowerPoint</Application>
  <PresentationFormat>Presentazione su schermo (16:9)</PresentationFormat>
  <Paragraphs>176</Paragraphs>
  <Slides>17</Slides>
  <Notes>17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2" baseType="lpstr">
      <vt:lpstr>Arial</vt:lpstr>
      <vt:lpstr>Averia Serif Libre</vt:lpstr>
      <vt:lpstr>Baloo 2</vt:lpstr>
      <vt:lpstr>Cambria Math</vt:lpstr>
      <vt:lpstr>Happy Culinarians Day! by Slidesgo</vt:lpstr>
      <vt:lpstr>Gastronomia Computazionale</vt:lpstr>
      <vt:lpstr>Domanda di Ricerca</vt:lpstr>
      <vt:lpstr>Approccio MultiLivello</vt:lpstr>
      <vt:lpstr>Dataset e Bias Dimensionale</vt:lpstr>
      <vt:lpstr>Dataset e Bias Dimensionale</vt:lpstr>
      <vt:lpstr>Dataset e Bias Dimensionale</vt:lpstr>
      <vt:lpstr>Dataset e Bias Dimensionale</vt:lpstr>
      <vt:lpstr>Metriche di Rete</vt:lpstr>
      <vt:lpstr>Metriche di Rete</vt:lpstr>
      <vt:lpstr>Confronto Statistico</vt:lpstr>
      <vt:lpstr>Analisi della Centralità</vt:lpstr>
      <vt:lpstr>Analisi della Centralità</vt:lpstr>
      <vt:lpstr>Presentazione standard di PowerPoint</vt:lpstr>
      <vt:lpstr>Bridge Discovery</vt:lpstr>
      <vt:lpstr>Bridge Discovery</vt:lpstr>
      <vt:lpstr>Presentazione standard di PowerPoint</vt:lpstr>
      <vt:lpstr>Grazie!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Aurora FELISARI</cp:lastModifiedBy>
  <cp:revision>5</cp:revision>
  <dcterms:modified xsi:type="dcterms:W3CDTF">2026-02-10T21:57:09Z</dcterms:modified>
</cp:coreProperties>
</file>